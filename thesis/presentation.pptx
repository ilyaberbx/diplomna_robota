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5"/>
    <p:sldId id="265" r:id="rId4"/>
    <p:sldId id="266" r:id="rId3"/>
    <p:sldId id="267" r:id="rId2"/>
    <p:sldId id="268" r:id="rId27"/>
    <p:sldId id="269" r:id="rId28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A161CA-D057-45A5-919A-9EF67A82FB53}">
  <a:tblStyle styleId="{B8A161CA-D057-45A5-919A-9EF67A82FB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3.xml"/><Relationship Id="rId28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Доброго дня. Мене звати Ілля Вербанов, група АС-222. Тема моєї роботи — вебзастосунок для пошуку загублених домашніх тварин. Керівник роботи — Надія Беглова. Далі коротко розповім, навіщо цей застосунок і що саме зроблено.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Коли тварина губиться, все вирішують перші дні. Власники й ті, хто знайшов тварину, шукають одне одного вручну — у різних чатах, групах, на OLX, і оголошення ніяк не зіставляються між собою. Тому мета роботи — скоротити час возз'єднання за рахунок автоматичного зіставлення оголошень про втрату та про знахідку. Щоб цього досягти, я розбив роботу на вісім задач: від дослідження області й аналізу аналогів до алгоритму зіставлення, проєктування, реалізації та тестування.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Якщо коротко: об'єкт — це сам процес пошуку й повернення тварин через зіставлення втрати та знахідки. А предмет — те, що я безпосередньо будую: моделі, алгоритм і програмні засоби, які структуровано подають оголошення й формують ранжований перелік ймовірних збігів. Важливо, що остаточне рішення про збіг приймає людина, а не система.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Я подивився на три типові варіанти: PawBoost, базу Pet FBI і тематичні спільноти у соцмережах. Усі вони дозволяють опублікувати оголошення, але жоден не зіставляє втрату зі знахідкою автоматично, не ранжує кандидатів і не ховає контакти до підтвердження. Саме ці порожні клітинки в останньому стовпці й стали моєю нішею.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Ось основні сценарії користувача. Незалежно від того, власник це чи людина, яка знайшла тварину, шлях однаковий: опублікувати структуроване оголошення, переглянути перелік ймовірних збігів і підтвердити або відхилити зв'язок. Перегляд стрічки доступний і без реєстрації.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Архітектурно застосунок побудований за принципом портів та адаптерів. Клієнт на React спілкується із сервером на NestJS через HTTP, а доступ до PostgreSQL ізольований за портом. Завдяки цьому модуль зв'язків не лізе напряму в таблицю оголошень, а працює через її порт — межі модулів чіткі.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База навмисно проста — лише три таблиці: користувач, оголошення і зв'язок. Цього достатньо, щоб описати всю предметну область. Зверніть увагу: єдиний ідентифікатор користувача є зовнішнім ключем для решти таблиць.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Щодо інструментів. І клієнт, і сервер — на TypeScript, у одному монорепозиторії. Сервер на Node.js і NestJS, дані через Drizzle і PostgreSQL. Помилки повертаю як значення через neverthrow, дані валідую через Zod. Паролі — argon2id, автентифікація — JWT. Окремо відзначу тести: репозиторні тести ганяються проти справжньої бази в контейнері через testcontainers, без імітації драйвера.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Перейдемо до роботи застосунку. Користувач реєструється або входить — це звичайна форма входу українською. Після входу стають доступні особисті дії: подати оголошення, переглянути свої оголошення й збіги.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 публічна стрічка оголошень. Її видно й без входу, але контактні дані тут приховані — їх не показують, доки збіг не підтверджено. Є фільтри за типом і видом тварини.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Так виглядає публікація оголошення. Форма структурована: тип, вид, кличка, порода, забарвлення, опис, а далі — місце й дата події. Саме ці поля потім використовує алгоритм зіставлення.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 ось головне — перелік кандидатів для конкретного оголошення про втрату. Система сама підібрала оголошення про знахідку того ж виду поблизу і впорядкувала їх: спершу за збігом виду, потім за відстанню, потім за різницею дат. Власнику лишається переглянути й запропонувати зв'язок.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Коли друга сторона підтверджує зв'язок, контактні дані обох оголошень взаємно розкриваються — ось ця панель. До цього моменту телефони й пошта були прихованими. Так ми захищаємо персональні дані й водночас даємо людям зв'язок, коли збіг справді підтверджено.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Підсумую. Я розробив вебзастосунок, який автоматизує найтрудомісткіший етап пошуку — виявлення ймовірного збігу, і захищає контакти до підтвердження. Ключовий результат — алгоритм зіставлення на формулі гаверсинуса з лексикографічним упорядкуванням. Систему перевірено: 130 серверних і 44 клієнтських тести проходять, конвеєр зелений. Поставлені задачі виконано, мету роботи досягнуто. Дякую за увагу, готовий відповісти на запитання.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2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5" name="Google Shape;15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5" name="Google Shape;25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4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4" name="Google Shape;34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8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6" name="Google Shape;56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8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5" name="Google Shape;75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Вебзастосунок для пошуку загублених домашніх тварин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sz="1600"/>
              <a:t>Кваліфікаційна робота бакалавра</a:t>
            </a:r>
          </a:p>
          <a:p>
            <a:r>
              <a:rPr b="0" sz="1400"/>
              <a:t>Виконав: ст. гр. АС-222 Ілля Вербанов</a:t>
            </a:r>
          </a:p>
          <a:p>
            <a:r>
              <a:rPr b="0" sz="1400"/>
              <a:t>Керівник: Надія Беглова, асистент каф. ІПЗ</a:t>
            </a:r>
          </a:p>
          <a:p>
            <a:r>
              <a:rPr b="0" sz="1400"/>
              <a:t>Національний університет «Одеська політехніка»</a:t>
            </a:r>
          </a:p>
          <a:p>
            <a:r>
              <a:rPr b="0" sz="1400"/>
              <a:t>Одеса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Мета і задачі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>
              <a:spcAft>
                <a:spcPts val="800"/>
              </a:spcAft>
              <a:buNone/>
            </a:pPr>
            <a:r>
              <a:rPr sz="1500" b="1"/>
              <a:t>Метою роботи є скорочення часу возз'єднання загублених домашніх тварин з власниками за рахунок автоматизації первинного зіставлення оголошень про втрату та про знахідку.</a:t>
            </a:r>
          </a:p>
          <a:p>
            <a:pPr algn="l">
              <a:spcAft>
                <a:spcPts val="600"/>
              </a:spcAft>
              <a:buNone/>
            </a:pPr>
            <a:r>
              <a:rPr sz="1400" b="0"/>
              <a:t>Для досягнення поставленої мети необхідно вирішити такі задачі: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sz="1400" b="0"/>
              <a:t>дослідити предметну область пошуку загублених домашніх тварин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sz="1400" b="0"/>
              <a:t>провести аналіз існуючих рішень і підходів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sz="1400" b="0"/>
              <a:t>сформувати функціональні та нефункціональні вимоги до системи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sz="1400" b="0"/>
              <a:t>виконати планування проєкту та оцінювання ризиків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sz="1400" b="0"/>
              <a:t>розробити алгоритм зіставлення та ранжування оголошень-кандидатів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sz="1400" b="0"/>
              <a:t>спроєктувати архітектуру застосунку, структуру бази даних і користувацький інтерфейс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sz="1400" b="0"/>
              <a:t>реалізувати вебзастосунок із використанням сучасних технологій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sz="1400" b="0"/>
              <a:t>провести тестування функціональних і нефункціональних вимог системи</a:t>
            </a:r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4A8F4A-77E7-40D0-8851-675C4B20C8FA}" type="slidenum"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Предмет та об'єкт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>
              <a:spcAft>
                <a:spcPts val="400"/>
              </a:spcAft>
              <a:buNone/>
            </a:pPr>
            <a:r>
              <a:rPr sz="1800" b="1"/>
              <a:t>Об'єкт роботи</a:t>
            </a:r>
          </a:p>
          <a:p>
            <a:pPr algn="l">
              <a:spcAft>
                <a:spcPts val="1400"/>
              </a:spcAft>
              <a:buNone/>
            </a:pPr>
            <a:r>
              <a:rPr sz="1600" b="0"/>
              <a:t>Об'єктом роботи є процес пошуку та повернення загублених домашніх тварин на основі зіставлення оголошень про втрату та про знахідку.</a:t>
            </a:r>
          </a:p>
          <a:p>
            <a:pPr algn="l">
              <a:spcAft>
                <a:spcPts val="400"/>
              </a:spcAft>
              <a:buNone/>
            </a:pPr>
            <a:r>
              <a:rPr sz="1800" b="1"/>
              <a:t>Предмет роботи</a:t>
            </a:r>
          </a:p>
          <a:p>
            <a:pPr algn="l">
              <a:spcAft>
                <a:spcPts val="600"/>
              </a:spcAft>
              <a:buNone/>
            </a:pPr>
            <a:r>
              <a:rPr sz="1600" b="0"/>
              <a:t>Предметом роботи є моделі, алгоритм і програмні засоби вебзастосунку, що забезпечують структуроване подання оголошень і автоматичне формування ранжованого переліку ймовірних збігів із подальшим підтвердженням зв'язку людиною.</a:t>
            </a:r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43EFE717-6B5A-499F-90F8-117E335C6B8D}" type="slidenum"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Аналіз аналогів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1737360"/>
                <a:gridCol w="1737360"/>
                <a:gridCol w="1737360"/>
                <a:gridCol w="173736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Критерій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PawBoost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Pet FBI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Спільноти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/>
                        <a:t>Власна розробка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Структурована модель оголошення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Автоматичне зіставлення втрати та знахідки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Урахування відстані та дати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частково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частково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Ранжування кандидатів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Підтвердження збігу людиною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Приховування контактів до підтвердження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Безкоштовність базових функцій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частково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fld id="{11A09889-9A70-4ED5-9164-814FAE32EF96}" type="slidenum">
              <a:t>3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Діаграма варіантів використання системи</a:t>
            </a:r>
          </a:p>
        </p:txBody>
      </p:sp>
      <p:pic>
        <p:nvPicPr>
          <p:cNvPr id="3" name="Picture 2" descr="diagram-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2176715"/>
            <a:ext cx="10789920" cy="3784729"/>
          </a:xfrm>
          <a:prstGeom prst="rect">
            <a:avLst/>
          </a:prstGeom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fld id="{20E08A7D-D13D-4664-B2F5-6291CA26656B}" type="slidenum">
              <a:t>4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Загальна архітектура вебзастосунку</a:t>
            </a:r>
          </a:p>
        </p:txBody>
      </p:sp>
      <p:pic>
        <p:nvPicPr>
          <p:cNvPr id="3" name="Picture 2" descr="diagram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099" y="1737360"/>
            <a:ext cx="5703801" cy="4663440"/>
          </a:xfrm>
          <a:prstGeom prst="rect">
            <a:avLst/>
          </a:prstGeom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fld id="{DCE94AC7-6253-4380-97BD-70CAD47EDF81}" type="slidenum">
              <a:t>5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Схема бази даних («сутність — зв'язок»)</a:t>
            </a:r>
          </a:p>
        </p:txBody>
      </p:sp>
      <p:pic>
        <p:nvPicPr>
          <p:cNvPr id="3" name="Picture 2" descr="diagram-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394" y="1737360"/>
            <a:ext cx="2795211" cy="4663440"/>
          </a:xfrm>
          <a:prstGeom prst="rect">
            <a:avLst/>
          </a:prstGeom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fld id="{22287187-60D5-45CF-BA9B-004E57B8CBC9}" type="slidenum">
              <a:t>6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Стек технологій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600" b="0"/>
              <a:t>Платформа та мова: Node.js 22 LTS, TypeScript 5.6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600" b="0"/>
              <a:t>Серверний фреймворк: NestJS 11 (модульність, впровадження залежностей)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600" b="0"/>
              <a:t>Дані: ORM Drizzle 0.44, PostgreSQL 16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600" b="0"/>
              <a:t>Валідація та обробка помилок: Zod, neverthrow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600" b="0"/>
              <a:t>Безпека: argon2id, JWT, заголовки безпеки, обмеження джерел запитів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600" b="0"/>
              <a:t>Клієнт: React 19, Vite 6, React Router, CSS-модулі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600" b="0"/>
              <a:t>Тестування: Vitest, testcontainers (ефемерна БД у контейнері)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600" b="0"/>
              <a:t>Інфраструктура: монорепозиторій pnpm + Turborepo, Docker</a:t>
            </a:r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6C07458-2EA0-4D56-AC99-F9E45EE25F18}" type="slidenum">
              <a:t>7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Контрольний приклад: авторизація користувача</a:t>
            </a:r>
          </a:p>
        </p:txBody>
      </p:sp>
      <p:pic>
        <p:nvPicPr>
          <p:cNvPr id="3" name="Picture 2" descr="demo-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248" y="1737360"/>
            <a:ext cx="7461504" cy="4663440"/>
          </a:xfrm>
          <a:prstGeom prst="rect">
            <a:avLst/>
          </a:prstGeom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fld id="{9FA7BA16-A06B-4D2F-BA7D-1AB84A4F70BB}" type="slidenum">
              <a:t>8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Контрольний приклад: публічна стрічка оголошень</a:t>
            </a:r>
          </a:p>
        </p:txBody>
      </p:sp>
      <p:pic>
        <p:nvPicPr>
          <p:cNvPr id="3" name="Picture 2" descr="demo-brow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248" y="1737360"/>
            <a:ext cx="7461504" cy="4663440"/>
          </a:xfrm>
          <a:prstGeom prst="rect">
            <a:avLst/>
          </a:prstGeom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fld id="{5E2991FD-87B9-4A5C-A62D-C3DC6AC0F34D}" type="slidenum">
              <a:t>9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Контрольний приклад: форма публікації оголошення</a:t>
            </a:r>
          </a:p>
        </p:txBody>
      </p:sp>
      <p:pic>
        <p:nvPicPr>
          <p:cNvPr id="3" name="Picture 2" descr="demo-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248" y="1737360"/>
            <a:ext cx="7461504" cy="4663440"/>
          </a:xfrm>
          <a:prstGeom prst="rect">
            <a:avLst/>
          </a:prstGeom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fld id="{B1187735-A8FF-4696-B0CC-20C5B0F0933E}" type="slidenum"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Контрольний приклад: перелік кандидатів</a:t>
            </a:r>
          </a:p>
        </p:txBody>
      </p:sp>
      <p:pic>
        <p:nvPicPr>
          <p:cNvPr id="3" name="Picture 2" descr="demo-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248" y="1737360"/>
            <a:ext cx="7461504" cy="4663440"/>
          </a:xfrm>
          <a:prstGeom prst="rect">
            <a:avLst/>
          </a:prstGeom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fld id="{722015DF-0110-4DF9-BB20-B7B92A1E5578}" type="slidenum">
              <a:t>11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Контрольний приклад: підтверджений зв'язок</a:t>
            </a:r>
          </a:p>
        </p:txBody>
      </p:sp>
      <p:pic>
        <p:nvPicPr>
          <p:cNvPr id="3" name="Picture 2" descr="demo-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248" y="1737360"/>
            <a:ext cx="7461504" cy="4663440"/>
          </a:xfrm>
          <a:prstGeom prst="rect">
            <a:avLst/>
          </a:prstGeom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fld id="{2CD888B5-79F9-43D5-8A7F-FBEEDF811953}" type="slidenum">
              <a:t>12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Загальні висновки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400" b="0"/>
              <a:t>У кваліфікаційній роботі вирішено задачу розробки вебзастосунку для пошуку загублених домашніх тварин шляхом автоматизованого зіставлення оголошень про втрату та про знахідку.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400" b="0"/>
              <a:t>Аналіз аналогів — сервісу PawBoost, бази Pet FBI та тематичних спільнот — показав, що жодне з рішень не виконує автоматичного зіставлення, не ранжує ймовірні збіги і не приховує контактні дані до підтвердження.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400" b="0"/>
              <a:t>Для обчислення відстані застосовано формулу гаверсинуса, для впорядкування кандидатів — лексикографічне правило, що відображає природний пріоритет ознак.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400" b="0"/>
              <a:t>На основі проєктних рішень реалізовано вебзастосунок із використанням платформи Node.js, фреймворку NestJS, бібліотеки React, ORM Drizzle та системи керування базами даних PostgreSQL.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400" b="0"/>
              <a:t>автоматизований набір із 130 серверних і 44 клієнтських тестів проходить успішно, єдиний конвеєр перевірки завершується без помилок.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sz="1400" b="0"/>
              <a:t>Поставлені в роботі задачі виконано повністю, мету роботи досягнуто.</a:t>
            </a:r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2DF357E6-5590-4B5C-97F5-3D240EDC4C06}" type="slidenum">
              <a:t>13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Широкоэкранный</PresentationFormat>
  <Paragraphs>80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Roboto</vt:lpstr>
      <vt:lpstr>Geometric</vt:lpstr>
      <vt:lpstr>Презентация PowerPoint</vt:lpstr>
      <vt:lpstr>Мета та задачі кваліфікаційної роботи</vt:lpstr>
      <vt:lpstr>Предмет та об’єкт кваліфікаційної роботи</vt:lpstr>
      <vt:lpstr>Аналоги системи</vt:lpstr>
      <vt:lpstr>Діаграма варіанту використання</vt:lpstr>
      <vt:lpstr>Діаграма послідовності варіанта використання </vt:lpstr>
      <vt:lpstr>Схема бази даних </vt:lpstr>
      <vt:lpstr>Використаний стек технологій</vt:lpstr>
      <vt:lpstr>Контрольний приклад</vt:lpstr>
      <vt:lpstr>Контрольний приклад</vt:lpstr>
      <vt:lpstr>Контрольний приклад</vt:lpstr>
      <vt:lpstr> Загальні висновки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comp1</dc:creator>
  <cp:lastModifiedBy>comp1</cp:lastModifiedBy>
  <cp:revision>1</cp:revision>
  <dcterms:modified xsi:type="dcterms:W3CDTF">2026-05-19T16:35:02Z</dcterms:modified>
</cp:coreProperties>
</file>