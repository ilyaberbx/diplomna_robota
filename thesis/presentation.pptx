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4"/>
  </p:notesMasterIdLst>
  <p:sldIdLst>
    <p:sldId id="256" r:id="rId13"/>
    <p:sldId id="257" r:id="rId12"/>
    <p:sldId id="258" r:id="rId11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7"/>
    <p:sldId id="269" r:id="rId28"/>
    <p:sldId id="270" r:id="rId29"/>
  </p:sldIdLst>
  <p:sldSz cx="12192000" cy="6858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8A161CA-D057-45A5-919A-9EF67A82FB53}">
  <a:tblStyle styleId="{B8A161CA-D057-45A5-919A-9EF67A82FB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Relationship Id="rId21" Type="http://schemas.openxmlformats.org/officeDocument/2006/relationships/font" Target="fonts/font7.fntdata"/><Relationship Id="rId22" Type="http://schemas.openxmlformats.org/officeDocument/2006/relationships/font" Target="fonts/font8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Доброго дня. Мене звати Ілля Вербанов, група АС-222. Тема моєї роботи — вебзастосунок для пошуку загублених домашніх тварин. Керівник роботи — Надія Беглова. Далі коротко розповім, навіщо цей застосунок і що саме зроблено.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Коли тварина губиться, вирішують перші дні, а власник і той, хто знайшов тварину, шукають одне одного вручну в різних чатах і на OLX — оголошення ніде не зіставляються. Тому мета роботи — підвищити ефективність первинного зіставлення: розробити вебзастосунок, що сам формує ранжований перелік ймовірних збігів. Ефективність я міряю двома величинами — якістю ранжування і часом формування переліку, і досягнення мети підтверджую експериментом. Щоб дійти до цього, роботу розбито на дев'ять задач: від аналізу області й аналогів до алгоритму зіставлення, проєктування, реалізації, тестування і самого експерименту.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Об'єкт роботи — це процес автоматизації зіставлення оголошень про загублених і знайдених тварин засобами вебзастосунку, тобто інженерна задача, а не сам пошук тварин. Предмет — те, що я безпосередньо будую: моделі, алгоритм і програмні засоби, які структуровано подають оголошення й формують ранжований перелік ймовірних збігів. Остаточне рішення про збіг приймає людина, а не система.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Я подивився на три типові варіанти: PawBoost, базу Pet FBI і тематичні спільноти у соцмережах. Усі вони дозволяють опублікувати оголошення, але жоден не зіставляє втрату зі знахідкою автоматично, не ранжує кандидатів і не ховає контакти до підтвердження. Саме ці порожні клітинки в останньому стовпці й стали моєю нішею.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Ось основні сценарії користувача. Незалежно від того, власник це чи людина, яка знайшла тварину, шлях однаковий: опублікувати структуроване оголошення, переглянути перелік ймовірних збігів і підтвердити або відхилити зв'язок. Перегляд стрічки доступний і без реєстрації.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Архітектурно застосунок побудований за принципом портів та адаптерів. Клієнт на React спілкується із сервером на NestJS через HTTP, а доступ до PostgreSQL ізольований за портом. Завдяки цьому модуль зв'язків не лізе напряму в таблицю оголошень, а працює через її порт — межі модулів чіткі.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База навмисно проста — лише три таблиці: користувач, оголошення і зв'язок. Цього достатньо, щоб описати всю предметну область. Зверніть увагу: єдиний ідентифікатор користувача є зовнішнім ключем для решти таблиць.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Щодо інструментів. І клієнт, і сервер — на TypeScript, у одному монорепозиторії. Сервер на Node.js і NestJS, дані через Drizzle і PostgreSQL. Помилки повертаю як значення через neverthrow, дані валідую через Zod. Паролі — argon2id, автентифікація — JWT. Окремо відзначу тести: репозиторні тести ганяються проти справжньої бази в контейнері через testcontainers, без імітації драйвера.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Перейдемо до роботи застосунку. Користувач реєструється або входить — це звичайна форма входу українською. Після входу стають доступні особисті дії: подати оголошення, переглянути свої оголошення й збіги.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Це публічна стрічка оголошень. Її видно й без входу, але контактні дані тут приховані — їх не показують, доки збіг не підтверджено. Є фільтри за типом і видом тварини.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Так виглядає публікація оголошення. Форма структурована: тип, вид, кличка, порода, забарвлення, опис, а далі — місце й дата події. Саме ці поля потім використовує алгоритм зіставлення.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 ось головне — перелік кандидатів для конкретного оголошення про втрату. Система сама підібрала оголошення про знахідку того ж виду поблизу і впорядкувала їх: спершу за збігом виду, потім за відстанню, потім за різницею дат. Власнику лишається переглянути й запропонувати зв'язок.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Коли друга сторона підтверджує зв'язок, контактні дані обох оголошень взаємно розкриваються — ось ця панель. До цього моменту телефони й пошта були прихованими. Так ми захищаємо персональні дані й водночас даємо людям зв'язок, коли збіг справді підтверджено.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Щоб показати, що мету досягнуто, я провів експеримент на модельному наборі: шістдесят пар втрата–знахідка з відомими збігами плюс сто сорок сторонніх оголошень, усе відтворюється за фіксованим сидом. Істинний збіг потрапляє в перші три позиції в усіх запитах, на першу — у вісімдесяти двох відсотках, середній обернений ранг дорівнює нуль цілих дев'яносто одна. Порівняно з хронологічним переглядом це приблизно стократне скорочення обсягу перегляду. Час формування переліку для п'ятдесяти тисяч оголошень — до п'ятдесяти мілісекунд, тобто вимога у дві секунди виконується із запасом.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Підсумую. Я розробив вебзастосунок, який автоматизує найтрудомісткіший етап пошуку — виявлення ймовірного збігу, і захищає контакти до підтвердження. Ключовий результат — алгоритм зіставлення на формулі гаверсинуса з лексикографічним упорядкуванням. Систему перевірено: 130 серверних і 44 клієнтських тести проходять. А досягнення мети підтверджено експериментально — істинний збіг у перших трьох позиціях у всіх запитах, час до п'ятдесяти мілісекунд на п'ятдесяти тисячах оголошень. Поставлені задачі виконано, мету роботи досягнуто. Дякую за увагу,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oogle Shape;14;p2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15" name="Google Shape;15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797467" y="2366963"/>
            <a:ext cx="10962900" cy="11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ubTitle" idx="1"/>
          </p:nvPr>
        </p:nvSpPr>
        <p:spPr>
          <a:xfrm>
            <a:off x="797451" y="3621217"/>
            <a:ext cx="10962900" cy="57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3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25" name="Google Shape;25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797467" y="2869796"/>
            <a:ext cx="10962900" cy="1118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4"/>
          <p:cNvGrpSpPr/>
          <p:nvPr/>
        </p:nvGrpSpPr>
        <p:grpSpPr>
          <a:xfrm>
            <a:off x="0" y="5204762"/>
            <a:ext cx="12191695" cy="1653192"/>
            <a:chOff x="0" y="3903669"/>
            <a:chExt cx="9144000" cy="1239925"/>
          </a:xfrm>
        </p:grpSpPr>
        <p:sp>
          <p:nvSpPr>
            <p:cNvPr id="34" name="Google Shape;34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415600" y="1639833"/>
            <a:ext cx="113607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body" idx="1"/>
          </p:nvPr>
        </p:nvSpPr>
        <p:spPr>
          <a:xfrm>
            <a:off x="415600" y="1639967"/>
            <a:ext cx="53331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body" idx="2"/>
          </p:nvPr>
        </p:nvSpPr>
        <p:spPr>
          <a:xfrm>
            <a:off x="6443200" y="1639967"/>
            <a:ext cx="53331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415600" y="1954405"/>
            <a:ext cx="3744000" cy="4137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4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8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" name="Google Shape;61;p8"/>
          <p:cNvSpPr txBox="1">
            <a:spLocks noGrp="1"/>
          </p:cNvSpPr>
          <p:nvPr>
            <p:ph type="title"/>
          </p:nvPr>
        </p:nvSpPr>
        <p:spPr>
          <a:xfrm>
            <a:off x="653667" y="701800"/>
            <a:ext cx="74916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6096000" y="-233"/>
            <a:ext cx="6096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5" name="Google Shape;65;p9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354000" y="1534800"/>
            <a:ext cx="5393700" cy="2085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354000" y="3692002"/>
            <a:ext cx="5393700" cy="1692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426000" y="5640767"/>
            <a:ext cx="7998300" cy="798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75" name="Google Shape;75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1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" name="Google Shape;80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674733"/>
            <a:ext cx="11360700" cy="27075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>
            <a:off x="415600" y="4492300"/>
            <a:ext cx="11360700" cy="17091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geometric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15600" y="1639833"/>
            <a:ext cx="11360700" cy="44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oboto"/>
              <a:buChar char="●"/>
              <a:defRPr sz="24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●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●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Вебзастосунок для пошуку загублених домашніх тварин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1" sz="2200"/>
              <a:t>Кваліфікаційна робота бакалавра</a:t>
            </a:r>
          </a:p>
          <a:p>
            <a:r>
              <a:rPr b="0" sz="1800"/>
              <a:t>Виконав: ст. гр. АС-222 Ілля Вербанов</a:t>
            </a:r>
          </a:p>
          <a:p>
            <a:r>
              <a:rPr b="0" sz="1800"/>
              <a:t>Керівник: Надія Беглова, асистент каф. ІПЗ</a:t>
            </a:r>
          </a:p>
          <a:p>
            <a:r>
              <a:rPr b="0" sz="1800"/>
              <a:t>Національний університет «Одеська політехніка»</a:t>
            </a:r>
          </a:p>
          <a:p>
            <a:r>
              <a:rPr b="0" sz="1800"/>
              <a:t>Одеса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Мета і задачі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6052" y="1417320"/>
            <a:ext cx="11360505" cy="51663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sz="1800" b="1"/>
              <a:t>Метою роботи є підвищення ефективності первинного зіставлення оголошень про загублених і знайдених домашніх тварин шляхом розроблення вебзастосунку, що автоматично формує ранжований перелік ймовірних збігів.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sz="1800" b="0"/>
              <a:t>Для досягнення поставленої мети необхідно вирішити такі задачі: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дослідити предметну область пошуку загублених домашніх тварин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провести аналіз існуючих рішень і підходів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сформувати функціональні та нефункціональні вимоги до системи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виконати планування проєкту та оцінювання ризиків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розробити алгоритм зіставлення та ранжування оголошень-кандидатів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спроєктувати архітектуру застосунку, структуру бази даних і користувацький інтерфейс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реалізувати вебзастосунок із використанням сучасних технологій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провести тестування функціональних і нефункціональних вимог системи</a:t>
            </a:r>
          </a:p>
          <a:p>
            <a:pPr algn="l" marL="342900" indent="-342900">
              <a:lnSpc>
                <a:spcPct val="100000"/>
              </a:lnSpc>
              <a:spcAft>
                <a:spcPts val="200"/>
              </a:spcAft>
              <a:buFont typeface="Arial"/>
              <a:buChar char="•"/>
            </a:pPr>
            <a:r>
              <a:rPr sz="1800" b="0"/>
              <a:t>провести експериментальне дослідження ефективності розробленого зіставлення на модельному наборі даних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60F07544-08E6-4D88-ADD0-1E7B4519FE0F}" type="slidenum"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Об'єкт та предмет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>
              <a:spcAft>
                <a:spcPts val="400"/>
              </a:spcAft>
              <a:buNone/>
            </a:pPr>
            <a:r>
              <a:rPr sz="2000" b="1"/>
              <a:t>Об'єкт роботи</a:t>
            </a:r>
          </a:p>
          <a:p>
            <a:pPr algn="l">
              <a:spcAft>
                <a:spcPts val="1200"/>
              </a:spcAft>
              <a:buNone/>
            </a:pPr>
            <a:r>
              <a:rPr sz="1800" b="0"/>
              <a:t>Об'єктом роботи є процес автоматизації зіставлення оголошень про загублених і знайдених домашніх тварин засобами вебзастосунку.</a:t>
            </a:r>
          </a:p>
          <a:p>
            <a:pPr algn="l">
              <a:spcAft>
                <a:spcPts val="400"/>
              </a:spcAft>
              <a:buNone/>
            </a:pPr>
            <a:r>
              <a:rPr sz="2000" b="1"/>
              <a:t>Предмет роботи</a:t>
            </a:r>
          </a:p>
          <a:p>
            <a:pPr algn="l">
              <a:spcAft>
                <a:spcPts val="600"/>
              </a:spcAft>
              <a:buNone/>
            </a:pPr>
            <a:r>
              <a:rPr sz="1800" b="0"/>
              <a:t>Предметом роботи є моделі, алгоритм і програмні засоби вебзастосунку, що забезпечують структуроване подання оголошень і автоматичне формування ранжованого переліку ймовірних збігів із подальшим підтвердженням зв'язку людиною.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6D4B96BA-C7B5-4919-80AA-2B1AB6C8BD1B}" type="slidenum">
              <a:t>2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Аналіз аналогів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737360"/>
                <a:gridCol w="1737360"/>
                <a:gridCol w="1737360"/>
                <a:gridCol w="173736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Критерій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PawBoost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Pet FBI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Спільноти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Власна розробка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Структурована модель оголошення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Автоматичне зіставлення оголошень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Урахування відстані та дати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Ранжування кандидатів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Підтвердження збігу людиною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Контакти приховано до підтвердження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Безкоштовність базових функцій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+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A3B2A8EA-8243-43BA-8264-2CDA2F454509}" type="slidenum">
              <a:t>3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Діаграма варіантів використання системи</a:t>
            </a:r>
          </a:p>
        </p:txBody>
      </p:sp>
      <p:pic>
        <p:nvPicPr>
          <p:cNvPr id="3" name="Picture 2" descr="diagram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" y="2176715"/>
            <a:ext cx="10789920" cy="3784729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7009612C-6B9C-47D1-B338-5CB3AF8A0B64}" type="slidenum">
              <a:t>4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Загальна архітектура вебзастосунку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099" y="1737360"/>
            <a:ext cx="5703801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D682CB13-5E1F-4F7A-BB91-E9874D8D5042}" type="slidenum">
              <a:t>5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Схема бази даних («сутність — зв'язок»)</a:t>
            </a:r>
          </a:p>
        </p:txBody>
      </p:sp>
      <p:pic>
        <p:nvPicPr>
          <p:cNvPr id="3" name="Picture 2" descr="diagram-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394" y="1737360"/>
            <a:ext cx="2795211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FCB80E5A-6F73-47AB-A8C1-8D5556DBD06E}" type="slidenum">
              <a:t>6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Стек технологій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Платформа та мова: Node.js 22 LTS, TypeScript 5.6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Серверний фреймворк: NestJS 11 (модульність, впровадження залежностей)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Дані: ORM Drizzle 0.44, PostgreSQL 16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Валідація та обробка помилок: Zod, neverthrow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Безпека: argon2id, JWT, заголовки безпеки, обмеження джерел запитів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Клієнт: React 19, Vite 6, React Router, CSS-модулі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Тестування: Vitest, testcontainers (ефемерна БД у контейнері)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800" b="0"/>
              <a:t>Інфраструктура: монорепозиторій pnpm + Turborepo, Docker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85B805D-BF19-44A8-87B3-9CA7091DC8D2}" type="slidenum">
              <a:t>7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Контрольний приклад: авторизація користувача</a:t>
            </a:r>
          </a:p>
        </p:txBody>
      </p:sp>
      <p:pic>
        <p:nvPicPr>
          <p:cNvPr id="3" name="Picture 2" descr="demo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48" y="1737360"/>
            <a:ext cx="7461504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E6900060-9E85-4E98-BA72-0C547C125036}" type="slidenum">
              <a:t>8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Контрольний приклад: публічна стрічка оголошень</a:t>
            </a:r>
          </a:p>
        </p:txBody>
      </p:sp>
      <p:pic>
        <p:nvPicPr>
          <p:cNvPr id="3" name="Picture 2" descr="demo-brow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48" y="1737360"/>
            <a:ext cx="7461504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B4F93DBF-BE95-4BD3-A1DE-919D28F89477}" type="slidenum">
              <a:t>9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Контрольний приклад: форма публікації оголошення</a:t>
            </a:r>
          </a:p>
        </p:txBody>
      </p:sp>
      <p:pic>
        <p:nvPicPr>
          <p:cNvPr id="3" name="Picture 2" descr="demo-cre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48" y="1737360"/>
            <a:ext cx="7461504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6D8F1B54-C31D-4555-B398-C4F25532C8DD}" type="slidenum">
              <a:t>10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Контрольний приклад: перелік кандидатів</a:t>
            </a:r>
          </a:p>
        </p:txBody>
      </p:sp>
      <p:pic>
        <p:nvPicPr>
          <p:cNvPr id="3" name="Picture 2" descr="demo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48" y="1737360"/>
            <a:ext cx="7461504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7F24967F-BC31-4E1C-8575-E6D88353DE36}" type="slidenum">
              <a:t>11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Контрольний приклад: підтверджений зв'язок</a:t>
            </a:r>
          </a:p>
        </p:txBody>
      </p:sp>
      <p:pic>
        <p:nvPicPr>
          <p:cNvPr id="3" name="Picture 2" descr="demo-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48" y="1737360"/>
            <a:ext cx="7461504" cy="466344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28075809-4647-4500-802C-8591566D5811}" type="slidenum">
              <a:t>12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Експериментальне дослідження ефективності зіставлення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194560" y="1554480"/>
          <a:ext cx="7772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256032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Показник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/>
                        <a:t>Значення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Hit@1 — істинний збіг на першій позиції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0,82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Hit@3 / Hit@5 — у перших трьох / п'яти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1,00 / 1,00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Середній обернений ранг (MRR)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0,91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Медіанний ранг істинного збігу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Час формування переліку (50 000 оголошень)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≤ 50 мс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l"/>
                      <a:r>
                        <a:rPr sz="1800"/>
                        <a:t>Скорочення обсягу перегляду vs хронологічний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≈ 100×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algn="r"/>
            <a:fld id="{721E311A-CE1C-4530-99F7-98E6AE90E3D4}" type="slidenum">
              <a:t>13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Загальні висновки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6052" y="1417320"/>
            <a:ext cx="11360505" cy="5166360"/>
          </a:xfrm>
        </p:spPr>
        <p:txBody>
          <a:bodyPr wrap="square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Розроблено вебзастосунок для пошуку загублених тварин через автоматичне зіставлення оголошень про втрату та про знахідку.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Аналіз аналогів (PawBoost, Pet FBI, спільноти): жоден не зіставляє автоматично, не ранжує збіги й не приховує контакти до підтвердження.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Ключовий результат — алгоритм зіставлення: гаверсинус для відстані та лексикографічне ранжування кандидатів; остаточне рішення про збіг — за людиною.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Реалізовано за принципом портів і адаптерів на Node.js, NestJS, React, Drizzle та PostgreSQL; контакти приховано до підтвердження зв'язку.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Тестування: 130 серверних і 44 клієнтських тести проходять, єдиний конвеєр перевірки завершується без помилок.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Досягнення мети підтверджено експериментально: істинний збіг у перших трьох позиціях у всіх запитах (Hit@3 = 1,00), MRR = 0,91; час формування переліку для 50 000 оголошень ≤ 50 мс, тобто в межах вимоги у 2 с.</a:t>
            </a:r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Font typeface="Arial"/>
              <a:buChar char="•"/>
            </a:pPr>
            <a:r>
              <a:rPr sz="1800" b="0"/>
              <a:t>Поставлені в роботі задачі виконано повністю, мету роботи досягнуто.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155680" y="137160"/>
            <a:ext cx="731520" cy="36576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48DC4FE4-B20C-461E-A3B5-0493ACFF3569}" type="slidenum">
              <a:t>14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</Words>
  <Application>Microsoft Office PowerPoint</Application>
  <PresentationFormat>Широкоэкранный</PresentationFormat>
  <Paragraphs>80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Times New Roman</vt:lpstr>
      <vt:lpstr>Arial</vt:lpstr>
      <vt:lpstr>Calibri</vt:lpstr>
      <vt:lpstr>Roboto</vt:lpstr>
      <vt:lpstr>Geometric</vt:lpstr>
      <vt:lpstr>Презентация PowerPoint</vt:lpstr>
      <vt:lpstr>Мета та задачі кваліфікаційної роботи</vt:lpstr>
      <vt:lpstr>Предмет та об’єкт кваліфікаційної роботи</vt:lpstr>
      <vt:lpstr>Аналоги системи</vt:lpstr>
      <vt:lpstr>Діаграма варіанту використання</vt:lpstr>
      <vt:lpstr>Діаграма послідовності варіанта використання </vt:lpstr>
      <vt:lpstr>Схема бази даних </vt:lpstr>
      <vt:lpstr>Використаний стек технологій</vt:lpstr>
      <vt:lpstr>Контрольний приклад</vt:lpstr>
      <vt:lpstr>Контрольний приклад</vt:lpstr>
      <vt:lpstr>Контрольний приклад</vt:lpstr>
      <vt:lpstr> Загальні висновки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comp1</dc:creator>
  <cp:lastModifiedBy>comp1</cp:lastModifiedBy>
  <cp:revision>1</cp:revision>
  <dcterms:modified xsi:type="dcterms:W3CDTF">2026-05-19T16:35:02Z</dcterms:modified>
</cp:coreProperties>
</file>