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4"/>
  </p:notesMasterIdLst>
  <p:sldIdLst>
    <p:sldId id="256" r:id="rId13"/>
    <p:sldId id="257" r:id="rId12"/>
    <p:sldId id="258" r:id="rId11"/>
    <p:sldId id="259" r:id="rId10"/>
    <p:sldId id="260" r:id="rId9"/>
    <p:sldId id="261" r:id="rId8"/>
    <p:sldId id="262" r:id="rId7"/>
    <p:sldId id="263" r:id="rId6"/>
    <p:sldId id="264" r:id="rId5"/>
    <p:sldId id="265" r:id="rId4"/>
    <p:sldId id="266" r:id="rId3"/>
    <p:sldId id="267" r:id="rId2"/>
    <p:sldId id="268" r:id="rId27"/>
    <p:sldId id="269" r:id="rId28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8A161CA-D057-45A5-919A-9EF67A82FB53}">
  <a:tblStyle styleId="{B8A161CA-D057-45A5-919A-9EF67A82FB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10.xml"/><Relationship Id="rId5" Type="http://schemas.openxmlformats.org/officeDocument/2006/relationships/slide" Target="slides/slide9.xml"/><Relationship Id="rId6" Type="http://schemas.openxmlformats.org/officeDocument/2006/relationships/slide" Target="slides/slide8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Relationship Id="rId21" Type="http://schemas.openxmlformats.org/officeDocument/2006/relationships/font" Target="fonts/font7.fntdata"/><Relationship Id="rId22" Type="http://schemas.openxmlformats.org/officeDocument/2006/relationships/font" Target="fonts/font8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3.xml"/><Relationship Id="rId28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Доброго дня. Мене звати Ілля Вербанов, група АС-222. Тема моєї роботи — вебзастосунок для пошуку загублених домашніх тварин. Керівник роботи — Надія Беглова. Далі коротко розповім, навіщо цей застосунок і що саме зроблено.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Коли тварина губиться, все вирішують перші дні. Власники й ті, хто знайшов тварину, шукають одне одного вручну — у різних чатах, групах, на OLX, і оголошення ніяк не зіставляються між собою. Тому мета роботи — скоротити час возз'єднання за рахунок автоматичного зіставлення оголошень про втрату та про знахідку. Щоб цього досягти, я розбив роботу на вісім задач: від дослідження області й аналізу аналогів до алгоритму зіставлення, проєктування, реалізації та тестування.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Якщо коротко: об'єкт — це сам процес пошуку й повернення тварин через зіставлення втрати та знахідки. А предмет — те, що я безпосередньо будую: моделі, алгоритм і програмні засоби, які структуровано подають оголошення й формують ранжований перелік ймовірних збігів. Важливо, що остаточне рішення про збіг приймає людина, а не система.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Я подивився на три типові варіанти: PawBoost, базу Pet FBI і тематичні спільноти у соцмережах. Усі вони дозволяють опублікувати оголошення, але жоден не зіставляє втрату зі знахідкою автоматично, не ранжує кандидатів і не ховає контакти до підтвердження. Саме ці порожні клітинки в останньому стовпці й стали моєю нішею.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Ось основні сценарії користувача. Незалежно від того, власник це чи людина, яка знайшла тварину, шлях однаковий: опублікувати структуроване оголошення, переглянути перелік ймовірних збігів і підтвердити або відхилити зв'язок. Перегляд стрічки доступний і без реєстрації.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Архітектурно застосунок побудований за принципом портів та адаптерів. Клієнт на React спілкується із сервером на NestJS через HTTP, а доступ до PostgreSQL ізольований за портом. Завдяки цьому модуль зв'язків не лізе напряму в таблицю оголошень, а працює через її порт — межі модулів чіткі.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База навмисно проста — лише три таблиці: користувач, оголошення і зв'язок. Цього достатньо, щоб описати всю предметну область. Зверніть увагу: єдиний ідентифікатор користувача є зовнішнім ключем для решти таблиць.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Щодо інструментів. І клієнт, і сервер — на TypeScript, у одному монорепозиторії. Сервер на Node.js і NestJS, дані через Drizzle і PostgreSQL. Помилки повертаю як значення через neverthrow, дані валідую через Zod. Паролі — argon2id, автентифікація — JWT. Окремо відзначу тести: репозиторні тести ганяються проти справжньої бази в контейнері через testcontainers, без імітації драйвера.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Перейдемо до роботи застосунку. Користувач реєструється або входить — це звичайна форма входу українською. Після входу стають доступні особисті дії: подати оголошення, переглянути свої оголошення й збіги.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Це публічна стрічка оголошень. Її видно й без входу, але контактні дані тут приховані — їх не показують, доки збіг не підтверджено. Є фільтри за типом і видом тварини.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Так виглядає публікація оголошення. Форма структурована: тип, вид, кличка, порода, забарвлення, опис, а далі — місце й дата події. Саме ці поля потім використовує алгоритм зіставлення.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А ось головне — перелік кандидатів для конкретного оголошення про втрату. Система сама підібрала оголошення про знахідку того ж виду поблизу і впорядкувала їх: спершу за збігом виду, потім за відстанню, потім за різницею дат. Власнику лишається переглянути й запропонувати зв'язок.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Коли друга сторона підтверджує зв'язок, контактні дані обох оголошень взаємно розкриваються — ось ця панель. До цього моменту телефони й пошта були прихованими. Так ми захищаємо персональні дані й водночас даємо людям зв'язок, коли збіг справді підтверджено.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Підсумую. Я розробив вебзастосунок, який автоматизує найтрудомісткіший етап пошуку — виявлення ймовірного збігу, і захищає контакти до підтвердження. Ключовий результат — алгоритм зіставлення на формулі гаверсинуса з лексикографічним упорядкуванням. Систему перевірено: 130 серверних і 44 клієнтських тести проходять, конвеєр зелений. Поставлені задачі виконано, мету роботи досягнуто. Дякую за увагу,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oogle Shape;14;p2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15" name="Google Shape;15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0" name="Google Shape;20;p2"/>
          <p:cNvSpPr txBox="1">
            <a:spLocks noGrp="1"/>
          </p:cNvSpPr>
          <p:nvPr>
            <p:ph type="ctrTitle"/>
          </p:nvPr>
        </p:nvSpPr>
        <p:spPr>
          <a:xfrm>
            <a:off x="797467" y="2366963"/>
            <a:ext cx="10962900" cy="1118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ubTitle" idx="1"/>
          </p:nvPr>
        </p:nvSpPr>
        <p:spPr>
          <a:xfrm>
            <a:off x="797451" y="3621217"/>
            <a:ext cx="10962900" cy="577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2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oogle Shape;24;p3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25" name="Google Shape;25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" name="Google Shape;30;p3"/>
          <p:cNvSpPr txBox="1">
            <a:spLocks noGrp="1"/>
          </p:cNvSpPr>
          <p:nvPr>
            <p:ph type="title"/>
          </p:nvPr>
        </p:nvSpPr>
        <p:spPr>
          <a:xfrm>
            <a:off x="797467" y="2869796"/>
            <a:ext cx="10962900" cy="1118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3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4"/>
          <p:cNvGrpSpPr/>
          <p:nvPr/>
        </p:nvGrpSpPr>
        <p:grpSpPr>
          <a:xfrm>
            <a:off x="0" y="5204762"/>
            <a:ext cx="12191695" cy="1653192"/>
            <a:chOff x="0" y="3903669"/>
            <a:chExt cx="9144000" cy="1239925"/>
          </a:xfrm>
        </p:grpSpPr>
        <p:sp>
          <p:nvSpPr>
            <p:cNvPr id="34" name="Google Shape;34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415600" y="1639833"/>
            <a:ext cx="113607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body" idx="1"/>
          </p:nvPr>
        </p:nvSpPr>
        <p:spPr>
          <a:xfrm>
            <a:off x="415600" y="1639967"/>
            <a:ext cx="53331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5" name="Google Shape;45;p5"/>
          <p:cNvSpPr txBox="1">
            <a:spLocks noGrp="1"/>
          </p:cNvSpPr>
          <p:nvPr>
            <p:ph type="body" idx="2"/>
          </p:nvPr>
        </p:nvSpPr>
        <p:spPr>
          <a:xfrm>
            <a:off x="6443200" y="1639967"/>
            <a:ext cx="5333100" cy="4452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body" idx="1"/>
          </p:nvPr>
        </p:nvSpPr>
        <p:spPr>
          <a:xfrm>
            <a:off x="415600" y="1954405"/>
            <a:ext cx="3744000" cy="4137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4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8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" name="Google Shape;61;p8"/>
          <p:cNvSpPr txBox="1">
            <a:spLocks noGrp="1"/>
          </p:cNvSpPr>
          <p:nvPr>
            <p:ph type="title"/>
          </p:nvPr>
        </p:nvSpPr>
        <p:spPr>
          <a:xfrm>
            <a:off x="653667" y="701800"/>
            <a:ext cx="74916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400"/>
              <a:buNone/>
              <a:defRPr sz="6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6096000" y="-233"/>
            <a:ext cx="6096000" cy="68580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5" name="Google Shape;65;p9"/>
          <p:cNvCxnSpPr/>
          <p:nvPr/>
        </p:nvCxnSpPr>
        <p:spPr>
          <a:xfrm>
            <a:off x="6706233" y="5994000"/>
            <a:ext cx="624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354000" y="1534800"/>
            <a:ext cx="5393700" cy="2085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354000" y="3692002"/>
            <a:ext cx="5393700" cy="1692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426000" y="5640767"/>
            <a:ext cx="7998300" cy="798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130968" y="7"/>
            <a:ext cx="4060732" cy="2707359"/>
            <a:chOff x="6098378" y="5"/>
            <a:chExt cx="3045625" cy="2030570"/>
          </a:xfrm>
        </p:grpSpPr>
        <p:sp>
          <p:nvSpPr>
            <p:cNvPr id="75" name="Google Shape;75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1"/>
            <p:cNvSpPr/>
            <p:nvPr/>
          </p:nvSpPr>
          <p:spPr>
            <a:xfrm rot="10800000" flipH="1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674733"/>
            <a:ext cx="11360700" cy="27075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0"/>
              <a:buNone/>
              <a:defRPr sz="1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>
            <a:off x="415600" y="4492300"/>
            <a:ext cx="11360700" cy="17091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>
                <a:solidFill>
                  <a:schemeClr val="lt1"/>
                </a:solidFill>
              </a:defRPr>
            </a:lvl1pPr>
            <a:lvl2pPr marL="914400" lvl="1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2pPr>
            <a:lvl3pPr marL="1371600" lvl="2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3pPr>
            <a:lvl4pPr marL="1828800" lvl="3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4pPr>
            <a:lvl5pPr marL="2286000" lvl="4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5pPr>
            <a:lvl6pPr marL="2743200" lvl="5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6pPr>
            <a:lvl7pPr marL="3200400" lvl="6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●"/>
              <a:defRPr>
                <a:solidFill>
                  <a:schemeClr val="lt1"/>
                </a:solidFill>
              </a:defRPr>
            </a:lvl7pPr>
            <a:lvl8pPr marL="3657600" lvl="7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○"/>
              <a:defRPr>
                <a:solidFill>
                  <a:schemeClr val="lt1"/>
                </a:solidFill>
              </a:defRPr>
            </a:lvl8pPr>
            <a:lvl9pPr marL="4114800" lvl="8" indent="-34925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9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geometric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415600" y="546667"/>
            <a:ext cx="11360700" cy="81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415600" y="1639833"/>
            <a:ext cx="11360700" cy="44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Roboto"/>
              <a:buChar char="●"/>
              <a:defRPr sz="24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●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●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○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92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Roboto"/>
              <a:buChar char="■"/>
              <a:defRPr sz="19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Вебзастосунок для пошуку загублених домашніх тварин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b="1" sz="1600"/>
              <a:t>Кваліфікаційна робота бакалавра</a:t>
            </a:r>
          </a:p>
          <a:p>
            <a:r>
              <a:rPr b="0" sz="1400"/>
              <a:t>Виконав: ст. гр. АС-222 Ілля Вербанов</a:t>
            </a:r>
          </a:p>
          <a:p>
            <a:r>
              <a:rPr b="0" sz="1400"/>
              <a:t>Керівник: Надія Беглова, асистент каф. ІПЗ</a:t>
            </a:r>
          </a:p>
          <a:p>
            <a:r>
              <a:rPr b="0" sz="1400"/>
              <a:t>Національний університет «Одеська політехніка»</a:t>
            </a:r>
          </a:p>
          <a:p>
            <a:r>
              <a:rPr b="0" sz="1400"/>
              <a:t>Одеса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Мета і задачі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>
              <a:spcAft>
                <a:spcPts val="800"/>
              </a:spcAft>
              <a:buNone/>
            </a:pPr>
            <a:r>
              <a:rPr sz="1500" b="1"/>
              <a:t>Метою роботи є скорочення часу возз'єднання загублених домашніх тварин з власниками за рахунок автоматизації первинного зіставлення оголошень про втрату та про знахідку.</a:t>
            </a:r>
          </a:p>
          <a:p>
            <a:pPr algn="l">
              <a:spcAft>
                <a:spcPts val="600"/>
              </a:spcAft>
              <a:buNone/>
            </a:pPr>
            <a:r>
              <a:rPr sz="1400" b="0"/>
              <a:t>Для досягнення поставленої мети необхідно вирішити такі задачі: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дослідити предметну область пошуку загублених домашніх тварин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провести аналіз існуючих рішень і підходів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сформувати функціональні та нефункціональні вимоги до системи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виконати планування проєкту та оцінювання ризиків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розробити алгоритм зіставлення та ранжування оголошень-кандидатів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спроєктувати архітектуру застосунку, структуру бази даних і користувацький інтерфейс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реалізувати вебзастосунок із використанням сучасних технологій</a:t>
            </a:r>
          </a:p>
          <a:p>
            <a:pPr algn="l" marL="342900" indent="-342900">
              <a:spcAft>
                <a:spcPts val="400"/>
              </a:spcAft>
              <a:buFont typeface="Arial"/>
              <a:buChar char="•"/>
            </a:pPr>
            <a:r>
              <a:rPr sz="1400" b="0"/>
              <a:t>провести тестування функціональних і нефункціональних вимог системи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710E0058-7D56-4D1D-ACAA-B62F24C9C441}" type="slidenum"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Предмет та об'єкт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>
              <a:spcAft>
                <a:spcPts val="400"/>
              </a:spcAft>
              <a:buNone/>
            </a:pPr>
            <a:r>
              <a:rPr sz="1800" b="1"/>
              <a:t>Об'єкт роботи</a:t>
            </a:r>
          </a:p>
          <a:p>
            <a:pPr algn="l">
              <a:spcAft>
                <a:spcPts val="1400"/>
              </a:spcAft>
              <a:buNone/>
            </a:pPr>
            <a:r>
              <a:rPr sz="1600" b="0"/>
              <a:t>Об'єктом роботи є процес пошуку та повернення загублених домашніх тварин на основі зіставлення оголошень про втрату та про знахідку.</a:t>
            </a:r>
          </a:p>
          <a:p>
            <a:pPr algn="l">
              <a:spcAft>
                <a:spcPts val="400"/>
              </a:spcAft>
              <a:buNone/>
            </a:pPr>
            <a:r>
              <a:rPr sz="1800" b="1"/>
              <a:t>Предмет роботи</a:t>
            </a:r>
          </a:p>
          <a:p>
            <a:pPr algn="l">
              <a:spcAft>
                <a:spcPts val="600"/>
              </a:spcAft>
              <a:buNone/>
            </a:pPr>
            <a:r>
              <a:rPr sz="1600" b="0"/>
              <a:t>Предметом роботи є моделі, алгоритм і програмні засоби вебзастосунку, що забезпечують структуроване подання оголошень і автоматичне формування ранжованого переліку ймовірних збігів із подальшим підтвердженням зв'язку людиною.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9139D5FB-A422-45C6-BE58-E136601782EB}" type="slidenum">
              <a:t>2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Аналіз аналогів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1737360"/>
                <a:gridCol w="1737360"/>
                <a:gridCol w="1737360"/>
                <a:gridCol w="173736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Критерій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PawBoost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Pet FBI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Спільноти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00"/>
                        <a:t>Власна розробка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Структурована модель оголошення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Автоматичне зіставлення втрати та знахідки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Урахування відстані та дати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Ранжування кандидатів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Підтвердження збігу людиною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Приховування контактів до підтвердження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Безкоштовність базових функцій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частково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+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0E06486E-22D1-4472-9837-139818FFB6A4}" type="slidenum">
              <a:t>3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Діаграма варіантів використання системи</a:t>
            </a:r>
          </a:p>
        </p:txBody>
      </p:sp>
      <p:pic>
        <p:nvPicPr>
          <p:cNvPr id="3" name="Picture 2" descr="1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" y="2130995"/>
            <a:ext cx="10789920" cy="3784729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4720CEAB-357C-4971-9A5A-0EAF2B3EAD1B}" type="slidenum">
              <a:t>4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Загальна архітектура вебзастосунку</a:t>
            </a:r>
          </a:p>
        </p:txBody>
      </p:sp>
      <p:pic>
        <p:nvPicPr>
          <p:cNvPr id="3" name="Picture 2" descr="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6340" y="1554480"/>
            <a:ext cx="6039319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1C20D340-5F0C-4B92-9355-EB48FD930468}" type="slidenum">
              <a:t>5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Схема бази даних («сутність — зв'язок»)</a:t>
            </a:r>
          </a:p>
        </p:txBody>
      </p:sp>
      <p:pic>
        <p:nvPicPr>
          <p:cNvPr id="3" name="Picture 2" descr="4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6182" y="1554480"/>
            <a:ext cx="2959635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D1F71EAB-0B02-4024-8668-902A24F29835}" type="slidenum">
              <a:t>6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Стек технологій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Платформа та мова: Node.js 22 LTS, TypeScript 5.6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Серверний фреймворк: NestJS 11 (модульність, впровадження залежностей)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Дані: ORM Drizzle 0.44, PostgreSQL 16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Валідація та обробка помилок: Zod, neverthrow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Безпека: argon2id, JWT, заголовки безпеки, обмеження джерел запитів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Клієнт: React 19, Vite 6, React Router, CSS-модулі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Тестування: Vitest, testcontainers (ефемерна БД у контейнері)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600" b="0"/>
              <a:t>Інфраструктура: монорепозиторій pnpm + Turborepo, Docker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F1B2868B-6DF9-4D97-B65B-FAD4806A9BDE}" type="slidenum">
              <a:t>7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авторизація користувача</a:t>
            </a:r>
          </a:p>
        </p:txBody>
      </p:sp>
      <p:pic>
        <p:nvPicPr>
          <p:cNvPr id="3" name="Picture 2" descr="demo-au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C105D581-2758-47B7-BE79-53FAF1A688EF}" type="slidenum">
              <a:t>8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публічна стрічка оголошень</a:t>
            </a:r>
          </a:p>
        </p:txBody>
      </p:sp>
      <p:pic>
        <p:nvPicPr>
          <p:cNvPr id="3" name="Picture 2" descr="demo-brow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E71E3CA0-DCCA-4614-AA41-90CDCF33FFEC}" type="slidenum">
              <a:t>9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форма публікації оголошення</a:t>
            </a:r>
          </a:p>
        </p:txBody>
      </p:sp>
      <p:pic>
        <p:nvPicPr>
          <p:cNvPr id="3" name="Picture 2" descr="demo-cre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BC123477-0FDC-47A9-B8E6-9094FD87AE30}" type="slidenum">
              <a:t>10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перелік кандидатів</a:t>
            </a:r>
          </a:p>
        </p:txBody>
      </p:sp>
      <p:pic>
        <p:nvPicPr>
          <p:cNvPr id="3" name="Picture 2" descr="demo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4A5AD04A-2CFC-465F-A78E-FA1DA451E62C}" type="slidenum">
              <a:t>11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Контрольний приклад: підтверджений зв'язок</a:t>
            </a:r>
          </a:p>
        </p:txBody>
      </p:sp>
      <p:pic>
        <p:nvPicPr>
          <p:cNvPr id="3" name="Picture 2" descr="demo-m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5792" y="1554480"/>
            <a:ext cx="7900416" cy="4937760"/>
          </a:xfrm>
          <a:prstGeom prst="rect">
            <a:avLst/>
          </a:prstGeom>
        </p:spPr>
      </p:pic>
      <p:sp>
        <p:nvSpPr>
          <p:cNvPr id="49" name="Google Shape;49;p6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fld id="{2013976B-156C-4B03-8363-E7059B405681}" type="slidenum">
              <a:t>12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Загальні висновки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У кваліфікаційній роботі вирішено задачу розробки вебзастосунку для пошуку загублених домашніх тварин шляхом автоматизованого зіставлення оголошень про втрату та про знахідку.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Аналіз аналогів — сервісу PawBoost, бази Pet FBI та тематичних спільнот — показав, що жодне з рішень не виконує автоматичного зіставлення, не ранжує ймовірні збіги і не приховує контактні дані до підтвердження.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Для обчислення відстані застосовано формулу гаверсинуса, для впорядкування кандидатів — лексикографічне правило, що відображає природний пріоритет ознак.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На основі проєктних рішень реалізовано вебзастосунок із використанням платформи Node.js, фреймворку NestJS, бібліотеки React, ORM Drizzle та системи керування базами даних PostgreSQL.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автоматизований набір із 130 серверних і 44 клієнтських тестів проходить успішно, єдиний конвеєр перевірки завершується без помилок.</a:t>
            </a:r>
          </a:p>
          <a:p>
            <a:pPr algn="l" marL="342900" indent="-342900">
              <a:spcAft>
                <a:spcPts val="600"/>
              </a:spcAft>
              <a:buFont typeface="Arial"/>
              <a:buChar char="•"/>
            </a:pPr>
            <a:r>
              <a:rPr sz="1400" b="0"/>
              <a:t>Поставлені в роботі задачі виконано повністю, мету роботи досягнуто.</a:t>
            </a:r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11280575" y="6201587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29133431-0B20-44EB-860D-FF8A8CEABB20}" type="slidenum">
              <a:t>13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261</Words>
  <Application>Microsoft Office PowerPoint</Application>
  <PresentationFormat>Широкоэкранный</PresentationFormat>
  <Paragraphs>80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Times New Roman</vt:lpstr>
      <vt:lpstr>Arial</vt:lpstr>
      <vt:lpstr>Calibri</vt:lpstr>
      <vt:lpstr>Roboto</vt:lpstr>
      <vt:lpstr>Geometric</vt:lpstr>
      <vt:lpstr>Презентация PowerPoint</vt:lpstr>
      <vt:lpstr>Мета та задачі кваліфікаційної роботи</vt:lpstr>
      <vt:lpstr>Предмет та об’єкт кваліфікаційної роботи</vt:lpstr>
      <vt:lpstr>Аналоги системи</vt:lpstr>
      <vt:lpstr>Діаграма варіанту використання</vt:lpstr>
      <vt:lpstr>Діаграма послідовності варіанта використання </vt:lpstr>
      <vt:lpstr>Схема бази даних </vt:lpstr>
      <vt:lpstr>Використаний стек технологій</vt:lpstr>
      <vt:lpstr>Контрольний приклад</vt:lpstr>
      <vt:lpstr>Контрольний приклад</vt:lpstr>
      <vt:lpstr>Контрольний приклад</vt:lpstr>
      <vt:lpstr> Загальні висновки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comp1</dc:creator>
  <cp:lastModifiedBy>comp1</cp:lastModifiedBy>
  <cp:revision>1</cp:revision>
  <dcterms:modified xsi:type="dcterms:W3CDTF">2026-05-19T16:35:02Z</dcterms:modified>
</cp:coreProperties>
</file>