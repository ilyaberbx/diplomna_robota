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13"/>
    <p:sldId id="257" r:id="rId12"/>
    <p:sldId id="258" r:id="rId11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7"/>
    <p:sldId id="269" r:id="rId28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8A161CA-D057-45A5-919A-9EF67A82FB53}">
  <a:tblStyle styleId="{B8A161CA-D057-45A5-919A-9EF67A82FB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Relationship Id="rId21" Type="http://schemas.openxmlformats.org/officeDocument/2006/relationships/font" Target="fonts/font7.fntdata"/><Relationship Id="rId22" Type="http://schemas.openxmlformats.org/officeDocument/2006/relationships/font" Target="fonts/font8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3.xml"/><Relationship Id="rId28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Доброго дня. Мене звати Ілля Вербанов, група АС-222. Тема моєї роботи — вебзастосунок для пошуку загублених домашніх тварин. Керівник роботи — Надія Беглова. Далі коротко розповім, навіщо цей застосунок і що саме зроблено.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тварина губиться, все вирішують перші дні. Власники й ті, хто знайшов тварину, шукають одне одного вручну — у різних чатах, групах, на OLX, і оголошення ніяк не зіставляються між собою. Тому мета роботи — скоротити час возз'єднання за рахунок автоматичного зіставлення оголошень про втрату та про знахідку. Щоб цього досягти, я розбив роботу на вісім задач: від дослідження області й аналізу аналогів до алгоритму зіставлення, проєктування, реалізації та тестування.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Якщо коротко: об'єкт — це сам процес пошуку й повернення тварин через зіставлення втрати та знахідки. А предмет — те, що я безпосередньо будую: моделі, алгоритм і програмні засоби, які структуровано подають оголошення й формують ранжований перелік ймовірних збігів. Важливо, що остаточне рішення про збіг приймає людина, а не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 подивився на три типові варіанти: PawBoost, базу Pet FBI і тематичні спільноти у соцмережах. Усі вони дозволяють опублікувати оголошення, але жоден не зіставляє втрату зі знахідкою автоматично, не ранжує кандидатів і не ховає контакти до підтвердження. Саме ці порожні клітинки в останньому стовпці й стали моєю нішею.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Ось основні сценарії користувача. Незалежно від того, власник це чи людина, яка знайшла тварину, шлях однаковий: опублікувати структуроване оголошення, переглянути перелік ймовірних збігів і підтвердити або відхилити зв'язок. Перегляд стрічки доступний і без реєстрації.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Архітектурно застосунок побудований за принципом портів та адаптерів. Клієнт на React спілкується із сервером на NestJS через HTTP, а доступ до PostgreSQL ізольований за портом. Завдяки цьому модуль зв'язків не лізе напряму в таблицю оголошень, а працює через її порт — межі модулів чіткі.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База навмисно проста — лише три таблиці: користувач, оголошення і зв'язок. Цього достатньо, щоб описати всю предметну область. Зверніть увагу: єдиний ідентифікатор користувача є зовнішнім ключем для решти таблиць.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Щодо інструментів. І клієнт, і сервер — на TypeScript, у одному монорепозиторії. Сервер на Node.js і NestJS, дані через Drizzle і PostgreSQL. Помилки повертаю як значення через neverthrow, дані валідую через Zod. Паролі — argon2id, автентифікація — JWT. Окремо відзначу тести: репозиторні тести ганяються проти справжньої бази в контейнері через testcontainers, без імітації драйвера.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Перейдемо до роботи застосунку. Користувач реєструється або входить — це звичайна форма входу українською. Після входу стають доступні особисті дії: подати оголошення, переглянути свої оголошення й збіги.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Це публічна стрічка оголошень. Її видно й без входу, але контактні дані тут приховані — їх не показують, доки збіг не підтверджено. Є фільтри за типом і видом тварини.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Так виглядає публікація оголошення. Форма структурована: тип, вид, кличка, порода, забарвлення, опис, а далі — місце й дата події. Саме ці поля потім використовує алгоритм зіставлення.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 ось головне — перелік кандидатів для конкретного оголошення про втрату. Система сама підібрала оголошення про знахідку того ж виду поблизу і впорядкувала їх: спершу за збігом виду, потім за відстанню, потім за різницею дат. Власнику лишається переглянути й запропонувати зв'язок.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друга сторона підтверджує зв'язок, контактні дані обох оголошень взаємно розкриваються — ось ця панель. До цього моменту телефони й пошта були прихованими. Так ми захищаємо персональні дані й водночас даємо людям зв'язок, коли збіг справді підтверджено.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Підсумую. Я розробив вебзастосунок, який автоматизує найтрудомісткіший етап пошуку — виявлення ймовірного збігу, і захищає контакти до підтвердження. Ключовий результат — алгоритм зіставлення на формулі гаверсинуса з лексикографічним упорядкуванням. Систему перевірено: 130 серверних і 44 клієнтських тести проходять, конвеєр зелений. Поставлені задачі виконано, мету роботи досягнуто. Дякую за увагу,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oogle Shape;14;p2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15" name="Google Shape;15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797467" y="2366963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ubTitle" idx="1"/>
          </p:nvPr>
        </p:nvSpPr>
        <p:spPr>
          <a:xfrm>
            <a:off x="797451" y="3621217"/>
            <a:ext cx="10962900" cy="57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3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25" name="Google Shape;25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797467" y="2869796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4"/>
          <p:cNvGrpSpPr/>
          <p:nvPr/>
        </p:nvGrpSpPr>
        <p:grpSpPr>
          <a:xfrm>
            <a:off x="0" y="5204762"/>
            <a:ext cx="12191695" cy="1653192"/>
            <a:chOff x="0" y="3903669"/>
            <a:chExt cx="9144000" cy="1239925"/>
          </a:xfrm>
        </p:grpSpPr>
        <p:sp>
          <p:nvSpPr>
            <p:cNvPr id="34" name="Google Shape;34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body" idx="1"/>
          </p:nvPr>
        </p:nvSpPr>
        <p:spPr>
          <a:xfrm>
            <a:off x="4156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body" idx="2"/>
          </p:nvPr>
        </p:nvSpPr>
        <p:spPr>
          <a:xfrm>
            <a:off x="64432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415600" y="1954405"/>
            <a:ext cx="3744000" cy="4137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4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8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" name="Google Shape;61;p8"/>
          <p:cNvSpPr txBox="1">
            <a:spLocks noGrp="1"/>
          </p:cNvSpPr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6096000" y="-233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354000" y="1534800"/>
            <a:ext cx="5393700" cy="2085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354000" y="3692002"/>
            <a:ext cx="5393700" cy="1692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426000" y="5640767"/>
            <a:ext cx="7998300" cy="798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75" name="Google Shape;75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674733"/>
            <a:ext cx="11360700" cy="27075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>
            <a:off x="415600" y="4492300"/>
            <a:ext cx="11360700" cy="17091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geometric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oboto"/>
              <a:buChar char="●"/>
              <a:defRPr sz="24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Вебзастосунок для пошуку загублених домашніх тварин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1" sz="1600"/>
              <a:t>Кваліфікаційна робота бакалавра</a:t>
            </a:r>
          </a:p>
          <a:p>
            <a:r>
              <a:rPr b="0" sz="1400"/>
              <a:t>Виконав: ст. гр. АС-222 Ілля Вербанов</a:t>
            </a:r>
          </a:p>
          <a:p>
            <a:r>
              <a:rPr b="0" sz="1400"/>
              <a:t>Керівник: Надія Беглова, асистент каф. ІПЗ</a:t>
            </a:r>
          </a:p>
          <a:p>
            <a:r>
              <a:rPr b="0" sz="1400"/>
              <a:t>Національний університет «Одеська політехніка»</a:t>
            </a:r>
          </a:p>
          <a:p>
            <a:r>
              <a:rPr b="0" sz="1400"/>
              <a:t>Одеса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Мета і задачі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>
              <a:spcAft>
                <a:spcPts val="800"/>
              </a:spcAft>
              <a:buNone/>
            </a:pPr>
            <a:r>
              <a:rPr sz="1500" b="1"/>
              <a:t>Метою роботи є скорочення часу возз'єднання загублених домашніх тварин з власниками за рахунок автоматизації первинного зіставлення оголошень про втрату та про знахідку.</a:t>
            </a:r>
          </a:p>
          <a:p>
            <a:pPr algn="l">
              <a:spcAft>
                <a:spcPts val="600"/>
              </a:spcAft>
              <a:buNone/>
            </a:pPr>
            <a:r>
              <a:rPr sz="1400" b="0"/>
              <a:t>Для досягнення поставленої мети необхідно вирішити такі задачі: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дослідити предметну область пошуку загублених домашніх тварин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провести аналіз існуючих рішень і підходів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сформувати функціональні та нефункціональні вимоги до системи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виконати планування проєкту та оцінювання ризиків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розробити алгоритм зіставлення та ранжування оголошень-кандидатів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спроєктувати архітектуру застосунку, структуру бази даних і користувацький інтерфейс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реалізувати вебзастосунок із використанням сучасних технологій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провести тестування функціональних і нефункціональних вимог системи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62DFF792-164E-4D60-B6ED-4475E6D66A99}" type="slidenum"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Предмет та об'єкт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>
              <a:spcAft>
                <a:spcPts val="400"/>
              </a:spcAft>
              <a:buNone/>
            </a:pPr>
            <a:r>
              <a:rPr sz="1800" b="1"/>
              <a:t>Об'єкт роботи</a:t>
            </a:r>
          </a:p>
          <a:p>
            <a:pPr algn="l">
              <a:spcAft>
                <a:spcPts val="1400"/>
              </a:spcAft>
              <a:buNone/>
            </a:pPr>
            <a:r>
              <a:rPr sz="1600" b="0"/>
              <a:t>Об'єктом роботи є процес пошуку та повернення загублених домашніх тварин на основі зіставлення оголошень про втрату та про знахідку.</a:t>
            </a:r>
          </a:p>
          <a:p>
            <a:pPr algn="l">
              <a:spcAft>
                <a:spcPts val="400"/>
              </a:spcAft>
              <a:buNone/>
            </a:pPr>
            <a:r>
              <a:rPr sz="1800" b="1"/>
              <a:t>Предмет роботи</a:t>
            </a:r>
          </a:p>
          <a:p>
            <a:pPr algn="l">
              <a:spcAft>
                <a:spcPts val="600"/>
              </a:spcAft>
              <a:buNone/>
            </a:pPr>
            <a:r>
              <a:rPr sz="1600" b="0"/>
              <a:t>Предметом роботи є моделі, алгоритм і програмні засоби вебзастосунку, що забезпечують структуроване подання оголошень і автоматичне формування ранжованого переліку ймовірних збігів із подальшим підтвердженням зв'язку людиною.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9CD3E03-0A1B-4E8D-8F3D-482F26F1C959}" type="slidenum">
              <a:t>2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Аналіз аналогів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737360"/>
                <a:gridCol w="1737360"/>
                <a:gridCol w="1737360"/>
                <a:gridCol w="173736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Критерій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PawBoost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Pet FBI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Спільноти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Власна розробка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Структурована модель оголошення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Автоматичне зіставлення втрати та знахідки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Урахування відстані та дати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Ранжування кандидатів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Підтвердження збігу людиною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Приховування контактів до підтвердження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Безкоштовність базових функцій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F1382105-3A9A-4626-8CD3-2DF9A4B7B7F7}" type="slidenum">
              <a:t>3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Діаграма варіантів використання системи</a:t>
            </a:r>
          </a:p>
        </p:txBody>
      </p:sp>
      <p:pic>
        <p:nvPicPr>
          <p:cNvPr id="3" name="Picture 2" descr="diagram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2130995"/>
            <a:ext cx="10789920" cy="3784729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6EB323E4-730B-494B-BC72-55EC0C294DBD}" type="slidenum">
              <a:t>4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Загальна архітектура вебзастосунку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340" y="1554480"/>
            <a:ext cx="6039319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38CC5E90-4CB0-431E-AFDE-2FED6171BE78}" type="slidenum">
              <a:t>5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Схема бази даних («сутність — зв'язок»)</a:t>
            </a:r>
          </a:p>
        </p:txBody>
      </p:sp>
      <p:pic>
        <p:nvPicPr>
          <p:cNvPr id="3" name="Picture 2" descr="diagram-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182" y="1554480"/>
            <a:ext cx="2959635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96247E02-55BF-4381-9933-4C6B14ACF5DD}" type="slidenum">
              <a:t>6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Стек технологій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Платформа та мова: Node.js 22 LTS, TypeScript 5.6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Серверний фреймворк: NestJS 11 (модульність, впровадження залежностей)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Дані: ORM Drizzle 0.44, PostgreSQL 16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Валідація та обробка помилок: Zod, neverthrow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Безпека: argon2id, JWT, заголовки безпеки, обмеження джерел запитів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Клієнт: React 19, Vite 6, React Router, CSS-модулі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Тестування: Vitest, testcontainers (ефемерна БД у контейнері)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Інфраструктура: монорепозиторій pnpm + Turborepo, Docker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37F42B3-67A4-43D5-A6B7-17DEB36BC9D8}" type="slidenum">
              <a:t>7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авторизація користувача</a:t>
            </a:r>
          </a:p>
        </p:txBody>
      </p:sp>
      <p:pic>
        <p:nvPicPr>
          <p:cNvPr id="3" name="Picture 2" descr="demo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25FA595C-1485-4CEC-BA78-4683F7B97088}" type="slidenum">
              <a:t>8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публічна стрічка оголошень</a:t>
            </a:r>
          </a:p>
        </p:txBody>
      </p:sp>
      <p:pic>
        <p:nvPicPr>
          <p:cNvPr id="3" name="Picture 2" descr="demo-brow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C664F19B-AAA8-4B0F-AB51-3466998EFDA6}" type="slidenum">
              <a:t>9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форма публікації оголошення</a:t>
            </a:r>
          </a:p>
        </p:txBody>
      </p:sp>
      <p:pic>
        <p:nvPicPr>
          <p:cNvPr id="3" name="Picture 2" descr="demo-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627D5FA5-D562-4D3D-B0C1-10EE516175F4}" type="slidenum">
              <a:t>10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перелік кандидатів</a:t>
            </a:r>
          </a:p>
        </p:txBody>
      </p:sp>
      <p:pic>
        <p:nvPicPr>
          <p:cNvPr id="3" name="Picture 2" descr="demo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3530FC3A-5454-45FC-817A-55BA54E4C974}" type="slidenum">
              <a:t>11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підтверджений зв'язок</a:t>
            </a:r>
          </a:p>
        </p:txBody>
      </p:sp>
      <p:pic>
        <p:nvPicPr>
          <p:cNvPr id="3" name="Picture 2" descr="demo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58F868B0-A178-4A3B-BBAA-50E7909ADAE9}" type="slidenum">
              <a:t>12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Загальні висновки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У кваліфікаційній роботі вирішено задачу розробки вебзастосунку для пошуку загублених домашніх тварин шляхом автоматизованого зіставлення оголошень про втрату та про знахідку.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Аналіз аналогів — сервісу PawBoost, бази Pet FBI та тематичних спільнот — показав, що жодне з рішень не виконує автоматичного зіставлення, не ранжує ймовірні збіги і не приховує контактні дані до підтвердження.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Для обчислення відстані застосовано формулу гаверсинуса, для впорядкування кандидатів — лексикографічне правило, що відображає природний пріоритет ознак.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На основі проєктних рішень реалізовано вебзастосунок із використанням платформи Node.js, фреймворку NestJS, бібліотеки React, ORM Drizzle та системи керування базами даних PostgreSQL.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автоматизований набір із 130 серверних і 44 клієнтських тестів проходить успішно, єдиний конвеєр перевірки завершується без помилок.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Поставлені в роботі задачі виконано повністю, мету роботи досягнуто.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23DE5063-2074-4597-9FD6-D081839376EA}" type="slidenum">
              <a:t>13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</Words>
  <Application>Microsoft Office PowerPoint</Application>
  <PresentationFormat>Широкоэкранный</PresentationFormat>
  <Paragraphs>80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Times New Roman</vt:lpstr>
      <vt:lpstr>Arial</vt:lpstr>
      <vt:lpstr>Calibri</vt:lpstr>
      <vt:lpstr>Roboto</vt:lpstr>
      <vt:lpstr>Geometric</vt:lpstr>
      <vt:lpstr>Презентация PowerPoint</vt:lpstr>
      <vt:lpstr>Мета та задачі кваліфікаційної роботи</vt:lpstr>
      <vt:lpstr>Предмет та об’єкт кваліфікаційної роботи</vt:lpstr>
      <vt:lpstr>Аналоги системи</vt:lpstr>
      <vt:lpstr>Діаграма варіанту використання</vt:lpstr>
      <vt:lpstr>Діаграма послідовності варіанта використання </vt:lpstr>
      <vt:lpstr>Схема бази даних </vt:lpstr>
      <vt:lpstr>Використаний стек технологій</vt:lpstr>
      <vt:lpstr>Контрольний приклад</vt:lpstr>
      <vt:lpstr>Контрольний приклад</vt:lpstr>
      <vt:lpstr>Контрольний приклад</vt:lpstr>
      <vt:lpstr> Загальні висновки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comp1</dc:creator>
  <cp:lastModifiedBy>comp1</cp:lastModifiedBy>
  <cp:revision>1</cp:revision>
  <dcterms:modified xsi:type="dcterms:W3CDTF">2026-05-19T16:35:02Z</dcterms:modified>
</cp:coreProperties>
</file>