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7"/>
    <p:sldId id="269" r:id="rId28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A161CA-D057-45A5-919A-9EF67A82FB53}">
  <a:tblStyle styleId="{B8A161CA-D057-45A5-919A-9EF67A82FB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Relationship Id="rId21" Type="http://schemas.openxmlformats.org/officeDocument/2006/relationships/font" Target="fonts/font7.fntdata"/><Relationship Id="rId22" Type="http://schemas.openxmlformats.org/officeDocument/2006/relationships/font" Target="fonts/font8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3.xml"/><Relationship Id="rId28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Доброго дня. Мене звати Ілля Вербанов, група АС-222. Тема моєї роботи — вебзастосунок для пошуку загублених домашніх тварин. Керівник роботи — Надія Беглова. Далі коротко розповім, навіщо цей застосунок і що саме зроблено.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тварина губиться, вирішують перші дні, а власник і той, хто знайшов тварину, шукають одне одного вручну в різних чатах і на OLX — оголошення ніде не зіставляються. Тому мета роботи — підвищити ефективність первинного зіставлення: розробити вебзастосунок, що сам формує ранжований перелік ймовірних збігів. Ефективність я міряю формальними метриками — часткою влучень істинного збігу в перші позиції переліку (Hit@K) і середнім оберненим рангом MRR, а також часом формування переліку, і досягнення мети підтверджую експериментом. Щоб дійти до цього, роботу розбито на дев'ять задач: від аналізу області й аналогів до алгоритму зіставлення, проєктування, реалізації, тестування і самого експерименту.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Об'єкт роботи — це процес розроблення програмного забезпечення для структурованого подання та автоматичного зіставлення оголошень про загублених і знайдених тварин, тобто інженерна задача зі спеціальності 121, а не сам пошук тварин. Предмет — те, що я безпосередньо будую: моделі, алгоритм і програмні засоби, які структуровано подають оголошення й формують ранжований перелік ймовірних збігів. Остаточне рішення про збіг приймає людина, а не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 подивився на три типові варіанти: PawBoost, базу Pet FBI і тематичні спільноти у соцмережах. Усі вони дозволяють опублікувати оголошення, але жоден не зіставляє втрату зі знахідкою автоматично, не ранжує кандидатів і не ховає контакти до підтвердження. Саме ці порожні клітинки в останньому стовпці й стали моєю нішею.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Ось основні сценарії користувача. Незалежно від того, власник це чи людина, яка знайшла тварину, шлях однаковий: опублікувати структуроване оголошення, переглянути перелік ймовірних збігів і підтвердити або відхилити зв'язок. Перегляд стрічки доступний і без реєстрації.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Архітектурно застосунок — багаторівневий: рівень подання (клієнт на React), рівень застосунку (сервер на NestJS) і рівень даних (PostgreSQL та файлове сховище). Це не дволанкова клієнт-серверна схема — доступ до даних винесено в окремий рівень. Сервер побудовано за принципом портів та адаптерів, тож модуль зв'язків не лізе напряму в таблицю оголошень, а працює через її порт — межі модулів чіткі.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База навмисно проста — лише три таблиці: користувач, оголошення і зв'язок. Цього достатньо, щоб описати всю предметну область. Зверніть увагу: єдиний ідентифікатор користувача є зовнішнім ключем для решти таблиць.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Щодо інструментів. І клієнт, і сервер — на TypeScript, у одному монорепозиторії. Сервер на Node.js і NestJS, дані через Drizzle і PostgreSQL. Помилки повертаю як значення через neverthrow, дані валідую через Zod. Паролі — argon2id, автентифікація — JWT. Окремо відзначу тести: репозиторні тести ганяються проти справжньої бази в контейнері через testcontainers, без імітації драйвера.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 публічна стрічка оголошень. Її видно й без входу, але контактні дані тут приховані — їх не показують, доки збіг не підтверджено. Є фільтри за типом і видом тварини.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Так виглядає публікація оголошення. Форма структурована: тип, вид, кличка, порода, забарвлення, опис, а далі — місце й дата події. Саме ці поля потім використовує алгоритм зіставлення.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 ось головне — перелік кандидатів для конкретного оголошення про втрату. Система сама підібрала оголошення про знахідку того ж виду поблизу і впорядкувала їх: спершу за збігом виду, потім за відстанню, потім за різницею дат. Власнику лишається переглянути й запропонувати зв'язок.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друга сторона підтверджує зв'язок, контактні дані обох оголошень взаємно розкриваються — ось ця панель. До цього моменту телефони й пошта були прихованими. Так ми захищаємо персональні дані й водночас даємо людям зв'язок, коли збіг справді підтверджено.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Щоб показати, що мету досягнуто, я провів експеримент на модельному наборі: шістдесят пар втрата–знахідка з відомими збігами плюс сто сорок сторонніх оголошень, усе відтворюється за фіксованим сидом. Істинний збіг потрапляє в перші три позиції в усіх запитах, на першу — у вісімдесяти двох відсотках, середній обернений ранг дорівнює нуль цілих дев'яносто одна. Порівняно з хронологічним переглядом це приблизно стократне скорочення обсягу перегляду. Час формування переліку для п'ятдесяти тисяч оголошень — до п'ятдесяти мілісекунд, тобто вимога у дві секунди виконується із запасом.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Підсумую. Я розробив вебзастосунок, який автоматизує найтрудомісткіший етап пошуку — виявлення ймовірного збігу, і захищає контакти до підтвердження. Ключовий результат — алгоритм зіставлення на формулі гаверсинуса з лексикографічним упорядкуванням. Систему перевірено: 130 серверних і 44 клієнтських тести проходять. А досягнення мети підтверджено експериментально — істинний збіг у перших трьох позиціях у всіх запитах, час до п'ятдесяти мілісекунд на п'ятдесяти тисячах оголошень. Поставлені задачі виконано, мету роботи досягнуто. Дякую за увагу,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oogle Shape;14;p2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15" name="Google Shape;15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797467" y="2366963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ubTitle" idx="1"/>
          </p:nvPr>
        </p:nvSpPr>
        <p:spPr>
          <a:xfrm>
            <a:off x="797451" y="3621217"/>
            <a:ext cx="10962900" cy="57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3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25" name="Google Shape;25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797467" y="2869796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4"/>
          <p:cNvGrpSpPr/>
          <p:nvPr/>
        </p:nvGrpSpPr>
        <p:grpSpPr>
          <a:xfrm>
            <a:off x="0" y="5204762"/>
            <a:ext cx="12191695" cy="1653192"/>
            <a:chOff x="0" y="3903669"/>
            <a:chExt cx="9144000" cy="1239925"/>
          </a:xfrm>
        </p:grpSpPr>
        <p:sp>
          <p:nvSpPr>
            <p:cNvPr id="34" name="Google Shape;34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body" idx="1"/>
          </p:nvPr>
        </p:nvSpPr>
        <p:spPr>
          <a:xfrm>
            <a:off x="4156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2"/>
          </p:nvPr>
        </p:nvSpPr>
        <p:spPr>
          <a:xfrm>
            <a:off x="64432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415600" y="1954405"/>
            <a:ext cx="3744000" cy="4137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8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" name="Google Shape;61;p8"/>
          <p:cNvSpPr txBox="1">
            <a:spLocks noGrp="1"/>
          </p:cNvSpPr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6096000" y="-233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354000" y="1534800"/>
            <a:ext cx="5393700" cy="2085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354000" y="3692002"/>
            <a:ext cx="5393700" cy="1692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426000" y="5640767"/>
            <a:ext cx="7998300" cy="798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75" name="Google Shape;75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674733"/>
            <a:ext cx="11360700" cy="27075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>
            <a:off x="415600" y="4492300"/>
            <a:ext cx="11360700" cy="1709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oboto"/>
              <a:buChar char="●"/>
              <a:defRPr sz="24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Вебзастосунок для пошуку загублених домашніх тварин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1" sz="2200"/>
              <a:t>Кваліфікаційна робота бакалавра</a:t>
            </a:r>
          </a:p>
          <a:p>
            <a:r>
              <a:rPr b="0" sz="1800"/>
              <a:t>Виконав: ст. гр. АС-222 Ілля Вербанов</a:t>
            </a:r>
          </a:p>
          <a:p>
            <a:r>
              <a:rPr b="0" sz="1800"/>
              <a:t>Керівник: Надія Беглова, асистент каф. ІПЗ</a:t>
            </a:r>
          </a:p>
          <a:p>
            <a:r>
              <a:rPr b="0" sz="1800"/>
              <a:t>Національний університет «Одеська політехніка»</a:t>
            </a:r>
          </a:p>
          <a:p>
            <a:r>
              <a:rPr b="0" sz="1800"/>
              <a:t>Одеса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Мета і задачі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6052" y="1417320"/>
            <a:ext cx="11360505" cy="51663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800" b="1"/>
              <a:t>Метою роботи є підвищення ефективності первинного зіставлення оголошень про загублених і знайдених домашніх тварин шляхом розроблення вебзастосунку, що автоматично формує ранжований перелік ймовірних збігів.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800" b="0"/>
              <a:t>Для досягнення поставленої мети необхідно вирішити такі задачі: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дослідити предметну область пошуку загублених домашніх тварин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провести аналіз існуючих рішень і підходів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сформувати функціональні та нефункціональні вимоги до системи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виконати планування проєкту та оцінювання ризиків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розробити алгоритм зіставлення та ранжування оголошень-кандидатів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спроєктувати архітектуру застосунку, структуру бази даних і користувацький інтерфейс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реалізувати вебзастосунок із використанням сучасних технологій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провести тестування функціональних і нефункціональних вимог системи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провести експериментальне дослідження ефективності розробленого зіставлення на модельному наборі даних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496BDFF-E63D-473A-B585-E155402CA215}" type="slidenum"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Об'єкт та предмет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>
              <a:spcAft>
                <a:spcPts val="400"/>
              </a:spcAft>
              <a:buNone/>
            </a:pPr>
            <a:r>
              <a:rPr sz="2000" b="1"/>
              <a:t>Об'єкт роботи</a:t>
            </a:r>
          </a:p>
          <a:p>
            <a:pPr algn="l">
              <a:spcAft>
                <a:spcPts val="1200"/>
              </a:spcAft>
              <a:buNone/>
            </a:pPr>
            <a:r>
              <a:rPr sz="1800" b="0"/>
              <a:t>Об'єктом роботи є процес розроблення програмного забезпечення для структурованого подання та автоматичного зіставлення оголошень про загублених і знайдених домашніх тварин.</a:t>
            </a:r>
          </a:p>
          <a:p>
            <a:pPr algn="l">
              <a:spcAft>
                <a:spcPts val="400"/>
              </a:spcAft>
              <a:buNone/>
            </a:pPr>
            <a:r>
              <a:rPr sz="2000" b="1"/>
              <a:t>Предмет роботи</a:t>
            </a:r>
          </a:p>
          <a:p>
            <a:pPr algn="l">
              <a:spcAft>
                <a:spcPts val="600"/>
              </a:spcAft>
              <a:buNone/>
            </a:pPr>
            <a:r>
              <a:rPr sz="1800" b="0"/>
              <a:t>Предметом роботи є моделі даних, метод і алгоритм зіставлення та ранжування оголошень, а також програмні засоби (архітектура, компоненти й інтерфейси вебзастосунку), що реалізують автоматичне формування ранжованого переліку ймовірних збігів із подальшим підтвердженням зв'язку людиною.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BB3BA1D1-1C57-4965-8A0B-F90D7AC5ABC0}" type="slidenum">
              <a:t>2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Аналіз аналогів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737360"/>
                <a:gridCol w="1737360"/>
                <a:gridCol w="1737360"/>
                <a:gridCol w="173736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Критерій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PawBoost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Pet FBI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Спільноти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Власна розробка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Структурована модель оголошення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Автоматичне зіставлення оголошень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Урахування відстані та дати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Ранжування кандидатів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Підтвердження збігу людиною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Контакти приховано до підтвердження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Безкоштовність базових функцій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E14F9B0A-0AFD-48D5-BA7B-260EBBF83294}" type="slidenum">
              <a:t>3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Діаграма варіантів використання системи</a:t>
            </a:r>
          </a:p>
        </p:txBody>
      </p:sp>
      <p:pic>
        <p:nvPicPr>
          <p:cNvPr id="3" name="Picture 2" descr="diagram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2176715"/>
            <a:ext cx="10789920" cy="3784729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5A84BE3E-BEE1-4A2A-B3BC-C2029BFAE997}" type="slidenum">
              <a:t>4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Загальна архітектура вебзастосунку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099" y="1737360"/>
            <a:ext cx="5703801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6F30EE1F-A9E3-4D6A-BAB3-27225464C3EB}" type="slidenum">
              <a:t>5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Схема бази даних («сутність — зв'язок»)</a:t>
            </a:r>
          </a:p>
        </p:txBody>
      </p:sp>
      <p:pic>
        <p:nvPicPr>
          <p:cNvPr id="3" name="Picture 2" descr="diagram-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394" y="1737360"/>
            <a:ext cx="2795211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5E29295F-0F2E-4202-875C-5248C1DEFB06}" type="slidenum">
              <a:t>6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Стек технологій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Платформа та мова: Node.js 22 LTS, TypeScript 5.6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Серверний фреймворк: NestJS 11 (модульність, впровадження залежностей)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Дані: ORM Drizzle 0.44, PostgreSQL 16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Валідація та обробка помилок: Zod, neverthrow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Безпека: argon2id, JWT, заголовки безпеки, обмеження джерел запитів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Клієнт: React 19, Vite 6, React Router, CSS-модулі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Тестування: Vitest, testcontainers (ефемерна БД у контейнері)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Інфраструктура: монорепозиторій pnpm + Turborepo, Docker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D4B06EB5-72E9-4361-AA6B-01DAC7BE3753}" type="slidenum">
              <a:t>7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публічна стрічка оголошень</a:t>
            </a:r>
          </a:p>
        </p:txBody>
      </p:sp>
      <p:pic>
        <p:nvPicPr>
          <p:cNvPr id="3" name="Picture 2" descr="demo-brow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23C2E923-4E65-4113-A7B9-8C86B0F1A969}" type="slidenum">
              <a:t>8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форма публікації оголошення</a:t>
            </a:r>
          </a:p>
        </p:txBody>
      </p:sp>
      <p:pic>
        <p:nvPicPr>
          <p:cNvPr id="3" name="Picture 2" descr="demo-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3D5CBFC9-4867-43FD-890C-356EA60D289B}" type="slidenum">
              <a:t>9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перелік кандидатів</a:t>
            </a:r>
          </a:p>
        </p:txBody>
      </p:sp>
      <p:pic>
        <p:nvPicPr>
          <p:cNvPr id="3" name="Picture 2" descr="demo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548C95F3-50EC-4B69-82EE-73302432E226}" type="slidenum">
              <a:t>10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підтверджений зв'язок</a:t>
            </a:r>
          </a:p>
        </p:txBody>
      </p:sp>
      <p:pic>
        <p:nvPicPr>
          <p:cNvPr id="3" name="Picture 2" descr="demo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F924A2B2-3693-4765-A257-FBF7ECB24F1E}" type="slidenum">
              <a:t>11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Експериментальне дослідження ефективності зіставлення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194560" y="1554480"/>
          <a:ext cx="7772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256032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Показник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Значення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Hit@1 — істинний збіг на першій позиції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0,82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Hit@3 / Hit@5 — у перших трьох / п'яти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1,00 / 1,00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Середній обернений ранг (MRR)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0,91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Медіанний ранг істинного збігу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Час формування переліку (50 000 оголошень)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≤ 50 мс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Скорочення обсягу перегляду vs хронологічний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≈ 100×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AB68042D-3851-422C-935E-CF2D0E7D2BD9}" type="slidenum">
              <a:t>12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Загальні висновки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6052" y="1417320"/>
            <a:ext cx="11360505" cy="5166360"/>
          </a:xfrm>
        </p:spPr>
        <p:txBody>
          <a:bodyPr wrap="square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Розроблено вебзастосунок для пошуку загублених тварин через автоматичне зіставлення оголошень про втрату та про знахідку.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Аналіз аналогів (PawBoost, Pet FBI, спільноти): жоден не зіставляє автоматично, не ранжує збіги й не приховує контакти до підтвердження.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Ключовий результат — алгоритм зіставлення: гаверсинус для відстані та лексикографічне ранжування кандидатів; остаточне рішення про збіг — за людиною.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Реалізовано за принципом портів і адаптерів на Node.js, NestJS, React, Drizzle та PostgreSQL; контакти приховано до підтвердження зв'язку.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Тестування: 130 серверних і 44 клієнтських тести проходять, єдиний конвеєр перевірки завершується без помилок.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Досягнення мети підтверджено експериментально: істинний збіг у перших трьох позиціях у всіх запитах (Hit@3 = 1,00), MRR = 0,91; час формування переліку для 50 000 оголошень ≤ 50 мс, тобто в межах вимоги у 2 с.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Поставлені в роботі задачі виконано повністю, мету роботи досягнуто.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E2830239-BE52-46BF-9EA5-EA91EBA677F9}" type="slidenum">
              <a:t>13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</Words>
  <Application>Microsoft Office PowerPoint</Application>
  <PresentationFormat>Широкоэкранный</PresentationFormat>
  <Paragraphs>80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Times New Roman</vt:lpstr>
      <vt:lpstr>Arial</vt:lpstr>
      <vt:lpstr>Calibri</vt:lpstr>
      <vt:lpstr>Roboto</vt:lpstr>
      <vt:lpstr>Geometric</vt:lpstr>
      <vt:lpstr>Презентация PowerPoint</vt:lpstr>
      <vt:lpstr>Мета та задачі кваліфікаційної роботи</vt:lpstr>
      <vt:lpstr>Предмет та об’єкт кваліфікаційної роботи</vt:lpstr>
      <vt:lpstr>Аналоги системи</vt:lpstr>
      <vt:lpstr>Діаграма варіанту використання</vt:lpstr>
      <vt:lpstr>Діаграма послідовності варіанта використання </vt:lpstr>
      <vt:lpstr>Схема бази даних </vt:lpstr>
      <vt:lpstr>Використаний стек технологій</vt:lpstr>
      <vt:lpstr>Контрольний приклад</vt:lpstr>
      <vt:lpstr>Контрольний приклад</vt:lpstr>
      <vt:lpstr>Контрольний приклад</vt:lpstr>
      <vt:lpstr> Загальні висновки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comp1</dc:creator>
  <cp:lastModifiedBy>comp1</cp:lastModifiedBy>
  <cp:revision>1</cp:revision>
  <dcterms:modified xsi:type="dcterms:W3CDTF">2026-05-19T16:35:02Z</dcterms:modified>
</cp:coreProperties>
</file>