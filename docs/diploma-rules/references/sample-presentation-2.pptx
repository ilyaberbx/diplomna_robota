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8A161CA-D057-45A5-919A-9EF67A82FB53}">
  <a:tblStyle styleId="{B8A161CA-D057-45A5-919A-9EF67A82FB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74b119155_0_2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g3574b119155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74b119155_0_2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3574b119155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74b119155_0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574b119155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2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15" name="Google Shape;15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797467" y="2366963"/>
            <a:ext cx="10962900" cy="1118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797451" y="3621217"/>
            <a:ext cx="10962900" cy="577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3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25" name="Google Shape;25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797467" y="2869796"/>
            <a:ext cx="10962900" cy="1118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4"/>
          <p:cNvGrpSpPr/>
          <p:nvPr/>
        </p:nvGrpSpPr>
        <p:grpSpPr>
          <a:xfrm>
            <a:off x="0" y="5204762"/>
            <a:ext cx="12191695" cy="1653192"/>
            <a:chOff x="0" y="3903669"/>
            <a:chExt cx="9144000" cy="1239925"/>
          </a:xfrm>
        </p:grpSpPr>
        <p:sp>
          <p:nvSpPr>
            <p:cNvPr id="34" name="Google Shape;34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415600" y="1639967"/>
            <a:ext cx="5333100" cy="445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6443200" y="1639967"/>
            <a:ext cx="5333100" cy="445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415600" y="1954405"/>
            <a:ext cx="3744000" cy="4137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8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56" name="Google Shape;56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" name="Google Shape;61;p8"/>
          <p:cNvSpPr txBox="1">
            <a:spLocks noGrp="1"/>
          </p:cNvSpPr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6096000" y="-2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" name="Google Shape;65;p9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354000" y="1534800"/>
            <a:ext cx="5393700" cy="2085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354000" y="3692002"/>
            <a:ext cx="5393700" cy="1692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426000" y="5640767"/>
            <a:ext cx="7998300" cy="798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75" name="Google Shape;75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Google Shape;80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674733"/>
            <a:ext cx="11360700" cy="27075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>
            <a:off x="415600" y="4492300"/>
            <a:ext cx="11360700" cy="1709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"/>
              <a:buChar char="●"/>
              <a:defRPr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2162908" y="2228700"/>
            <a:ext cx="8247183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Кваліфікаційна</a:t>
            </a:r>
            <a:r>
              <a:rPr lang="ru-RU" sz="2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робота на тему:</a:t>
            </a:r>
            <a:endParaRPr sz="28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9993923" y="4457590"/>
            <a:ext cx="1938101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i="0" u="none" strike="noStrike" cap="none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Виконав</a:t>
            </a:r>
            <a:r>
              <a:rPr lang="ru-RU" sz="200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ст. гр. АC-</a:t>
            </a:r>
            <a:endParaRPr sz="2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2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Керівник</a:t>
            </a:r>
            <a:r>
              <a:rPr lang="ru-RU" sz="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11163300" y="211041"/>
            <a:ext cx="628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2800">
                <a:latin typeface="Times New Roman"/>
                <a:ea typeface="Times New Roman"/>
                <a:cs typeface="Times New Roman"/>
                <a:sym typeface="Times New Roman"/>
              </a:rPr>
              <a:t>Мета та задачі кваліфікаційної роботи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5"/>
          <p:cNvSpPr txBox="1">
            <a:spLocks noGrp="1"/>
          </p:cNvSpPr>
          <p:nvPr>
            <p:ph type="body" idx="1"/>
          </p:nvPr>
        </p:nvSpPr>
        <p:spPr>
          <a:xfrm>
            <a:off x="838200" y="1193627"/>
            <a:ext cx="10515600" cy="52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Метою кваліфікаційної роботи є скорочення часу на організацію обліку даних для житлових об’єктів, які забезпечують користувачам зручну систему для керування даними.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Задачi роботи: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Проаналізувати наявні аналоги і розглянути їхні переваги та недоліки;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Проектування системи;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Програмна реалізація та тестування.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11163300" y="211041"/>
            <a:ext cx="628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2800">
                <a:latin typeface="Times New Roman"/>
                <a:ea typeface="Times New Roman"/>
                <a:cs typeface="Times New Roman"/>
                <a:sym typeface="Times New Roman"/>
              </a:rPr>
              <a:t>Предмет та об’єкт кваліфікаційної роботи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6"/>
          <p:cNvSpPr txBox="1">
            <a:spLocks noGrp="1"/>
          </p:cNvSpPr>
          <p:nvPr>
            <p:ph type="body" idx="1"/>
          </p:nvPr>
        </p:nvSpPr>
        <p:spPr>
          <a:xfrm>
            <a:off x="838200" y="10660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Oб’єкт роботи є процес  розробки інформаційної системи для автоматизації обліку доходів з різних джерел.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Предметом роботи є система, яка дає змогу економити користувачеві час, шляхом агрегації даних про доходи з різних інтеграцій, можливість створювати звіти із зазначенням податкового відсотка і фіксованої суми, а також передбачення доходів.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11163300" y="211041"/>
            <a:ext cx="628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title"/>
          </p:nvPr>
        </p:nvSpPr>
        <p:spPr>
          <a:xfrm>
            <a:off x="-50" y="152400"/>
            <a:ext cx="12192000" cy="5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 sz="2800">
                <a:latin typeface="Times New Roman"/>
                <a:ea typeface="Times New Roman"/>
                <a:cs typeface="Times New Roman"/>
                <a:sym typeface="Times New Roman"/>
              </a:rPr>
              <a:t>Аналоги системи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11163300" y="211041"/>
            <a:ext cx="628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8" name="Google Shape;118;p17"/>
          <p:cNvGraphicFramePr/>
          <p:nvPr/>
        </p:nvGraphicFramePr>
        <p:xfrm>
          <a:off x="258250" y="676975"/>
          <a:ext cx="11832075" cy="6083525"/>
        </p:xfrm>
        <a:graphic>
          <a:graphicData uri="http://schemas.openxmlformats.org/drawingml/2006/table">
            <a:tbl>
              <a:tblPr>
                <a:noFill/>
                <a:tableStyleId>{B8A161CA-D057-45A5-919A-9EF67A82FB53}</a:tableStyleId>
              </a:tblPr>
              <a:tblGrid>
                <a:gridCol w="28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91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Характеристика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Procore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Buildertrend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CoConstruct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Власна розробка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Орієнтовано на великий бізнес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Управління фінансами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+-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+-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Інтуїтивно зрозумілий інтерфейс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Статистика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+-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Ціна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Від $2000/рік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Від $399/міс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Від $99/міс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Від $80/міс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0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Найкраще підходить для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Масштабні проекти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Житлове будівництво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Невеликі компанії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Житлове будівництво різного типу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5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2800"/>
              <a:t>Діаграма варіанту використання</a:t>
            </a:r>
            <a:endParaRPr sz="2800"/>
          </a:p>
        </p:txBody>
      </p:sp>
      <p:sp>
        <p:nvSpPr>
          <p:cNvPr id="124" name="Google Shape;124;p18"/>
          <p:cNvSpPr/>
          <p:nvPr/>
        </p:nvSpPr>
        <p:spPr>
          <a:xfrm>
            <a:off x="11163300" y="211041"/>
            <a:ext cx="628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" name="Google Shape;125;p18" title="курсовая вв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3875" y="749875"/>
            <a:ext cx="3524255" cy="589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>
            <a:spLocks noGrp="1"/>
          </p:cNvSpPr>
          <p:nvPr>
            <p:ph type="title"/>
          </p:nvPr>
        </p:nvSpPr>
        <p:spPr>
          <a:xfrm>
            <a:off x="0" y="76200"/>
            <a:ext cx="121920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2800">
                <a:latin typeface="Times New Roman"/>
                <a:ea typeface="Times New Roman"/>
                <a:cs typeface="Times New Roman"/>
                <a:sym typeface="Times New Roman"/>
              </a:rPr>
              <a:t>Діаграма послідовності варіанта використання 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11163300" y="211041"/>
            <a:ext cx="628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2" name="Google Shape;132;p19" title="авт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9266" y="799500"/>
            <a:ext cx="5234259" cy="5844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>
            <a:spLocks noGrp="1"/>
          </p:cNvSpPr>
          <p:nvPr>
            <p:ph type="title"/>
          </p:nvPr>
        </p:nvSpPr>
        <p:spPr>
          <a:xfrm>
            <a:off x="50" y="76950"/>
            <a:ext cx="121920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2800">
                <a:latin typeface="Times New Roman"/>
                <a:ea typeface="Times New Roman"/>
                <a:cs typeface="Times New Roman"/>
                <a:sym typeface="Times New Roman"/>
              </a:rPr>
              <a:t>Схема бази даних 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11163300" y="211041"/>
            <a:ext cx="628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9" name="Google Shape;139;p20" title="er.drawi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6125" y="730450"/>
            <a:ext cx="7840675" cy="6127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2800">
                <a:latin typeface="Times New Roman"/>
                <a:ea typeface="Times New Roman"/>
                <a:cs typeface="Times New Roman"/>
                <a:sym typeface="Times New Roman"/>
              </a:rPr>
              <a:t>Використаний стек технологій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" name="Google Shape;145;p21" descr="Java — Вікіпедія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146" y="1604770"/>
            <a:ext cx="1940498" cy="1940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1" descr="Spring Framewor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8194" y="2150995"/>
            <a:ext cx="2183178" cy="1091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1" descr="Изображение логотипа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50135" y="4064360"/>
            <a:ext cx="1555261" cy="1555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1" descr="CSS — Википедия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39062" y="4123760"/>
            <a:ext cx="1436460" cy="1436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 descr="Hibernate-the ultimate ORM framework | Edureka"/>
          <p:cNvPicPr preferRelativeResize="0"/>
          <p:nvPr/>
        </p:nvPicPr>
        <p:blipFill rotWithShape="1">
          <a:blip r:embed="rId7">
            <a:alphaModFix/>
          </a:blip>
          <a:srcRect l="23063" r="32854"/>
          <a:stretch/>
        </p:blipFill>
        <p:spPr>
          <a:xfrm>
            <a:off x="470224" y="3663450"/>
            <a:ext cx="1940499" cy="163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/>
          <p:nvPr/>
        </p:nvSpPr>
        <p:spPr>
          <a:xfrm>
            <a:off x="11163300" y="211041"/>
            <a:ext cx="628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1" name="Google Shape;151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91421" y="3415526"/>
            <a:ext cx="2128271" cy="2128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035017" y="1769838"/>
            <a:ext cx="2128271" cy="2128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40550" y="2151000"/>
            <a:ext cx="2688799" cy="1512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>
            <a:spLocks noGrp="1"/>
          </p:cNvSpPr>
          <p:nvPr>
            <p:ph type="title"/>
          </p:nvPr>
        </p:nvSpPr>
        <p:spPr>
          <a:xfrm>
            <a:off x="0" y="76200"/>
            <a:ext cx="121920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2800">
                <a:latin typeface="Times New Roman"/>
                <a:ea typeface="Times New Roman"/>
                <a:cs typeface="Times New Roman"/>
                <a:sym typeface="Times New Roman"/>
              </a:rPr>
              <a:t>Контрольний приклад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22"/>
          <p:cNvSpPr/>
          <p:nvPr/>
        </p:nvSpPr>
        <p:spPr>
          <a:xfrm>
            <a:off x="11163300" y="211041"/>
            <a:ext cx="62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0" name="Google Shape;16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363" y="1266425"/>
            <a:ext cx="11613276" cy="55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0" y="735600"/>
            <a:ext cx="121920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2000">
                <a:latin typeface="Times New Roman"/>
                <a:ea typeface="Times New Roman"/>
                <a:cs typeface="Times New Roman"/>
                <a:sym typeface="Times New Roman"/>
              </a:rPr>
              <a:t>Сторінка авторизації: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>
            <a:spLocks noGrp="1"/>
          </p:cNvSpPr>
          <p:nvPr>
            <p:ph type="title"/>
          </p:nvPr>
        </p:nvSpPr>
        <p:spPr>
          <a:xfrm>
            <a:off x="0" y="76200"/>
            <a:ext cx="121920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2800">
                <a:latin typeface="Times New Roman"/>
                <a:ea typeface="Times New Roman"/>
                <a:cs typeface="Times New Roman"/>
                <a:sym typeface="Times New Roman"/>
              </a:rPr>
              <a:t>Контрольний приклад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3"/>
          <p:cNvSpPr/>
          <p:nvPr/>
        </p:nvSpPr>
        <p:spPr>
          <a:xfrm>
            <a:off x="11163300" y="211041"/>
            <a:ext cx="62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3"/>
          <p:cNvSpPr txBox="1">
            <a:spLocks noGrp="1"/>
          </p:cNvSpPr>
          <p:nvPr>
            <p:ph type="title"/>
          </p:nvPr>
        </p:nvSpPr>
        <p:spPr>
          <a:xfrm>
            <a:off x="0" y="583200"/>
            <a:ext cx="121920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2000">
                <a:solidFill>
                  <a:srgbClr val="2A39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Керування мешканцем</a:t>
            </a:r>
            <a:r>
              <a:rPr lang="ru-RU" sz="20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9" name="Google Shape;16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900" y="1210775"/>
            <a:ext cx="5462800" cy="263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6575" y="1210775"/>
            <a:ext cx="5462800" cy="2647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4972" y="3984800"/>
            <a:ext cx="5462727" cy="264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38012" y="3984800"/>
            <a:ext cx="5521363" cy="264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>
            <a:spLocks noGrp="1"/>
          </p:cNvSpPr>
          <p:nvPr>
            <p:ph type="title"/>
          </p:nvPr>
        </p:nvSpPr>
        <p:spPr>
          <a:xfrm>
            <a:off x="0" y="76200"/>
            <a:ext cx="121920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2800">
                <a:latin typeface="Times New Roman"/>
                <a:ea typeface="Times New Roman"/>
                <a:cs typeface="Times New Roman"/>
                <a:sym typeface="Times New Roman"/>
              </a:rPr>
              <a:t>Контрольний приклад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4"/>
          <p:cNvSpPr/>
          <p:nvPr/>
        </p:nvSpPr>
        <p:spPr>
          <a:xfrm>
            <a:off x="11163300" y="211041"/>
            <a:ext cx="62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4"/>
          <p:cNvSpPr txBox="1">
            <a:spLocks noGrp="1"/>
          </p:cNvSpPr>
          <p:nvPr>
            <p:ph type="title"/>
          </p:nvPr>
        </p:nvSpPr>
        <p:spPr>
          <a:xfrm>
            <a:off x="0" y="583200"/>
            <a:ext cx="121920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2000">
                <a:latin typeface="Times New Roman"/>
                <a:ea typeface="Times New Roman"/>
                <a:cs typeface="Times New Roman"/>
                <a:sym typeface="Times New Roman"/>
              </a:rPr>
              <a:t>Перегляд статистики: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0" name="Google Shape;18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25" y="2295500"/>
            <a:ext cx="5743475" cy="278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4126" y="2226900"/>
            <a:ext cx="6051623" cy="2926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>
            <a:spLocks noGrp="1"/>
          </p:cNvSpPr>
          <p:nvPr>
            <p:ph type="title"/>
          </p:nvPr>
        </p:nvSpPr>
        <p:spPr>
          <a:xfrm>
            <a:off x="0" y="526150"/>
            <a:ext cx="12192000" cy="5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1935"/>
              <a:buFont typeface="Calibri"/>
              <a:buNone/>
            </a:pP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1935"/>
              <a:buFont typeface="Calibri"/>
              <a:buNone/>
            </a:pPr>
            <a:r>
              <a:rPr lang="ru-RU" sz="3100">
                <a:latin typeface="Times New Roman"/>
                <a:ea typeface="Times New Roman"/>
                <a:cs typeface="Times New Roman"/>
                <a:sym typeface="Times New Roman"/>
              </a:rPr>
              <a:t>Загальні висновки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endParaRPr/>
          </a:p>
        </p:txBody>
      </p:sp>
      <p:sp>
        <p:nvSpPr>
          <p:cNvPr id="187" name="Google Shape;187;p25"/>
          <p:cNvSpPr txBox="1">
            <a:spLocks noGrp="1"/>
          </p:cNvSpPr>
          <p:nvPr>
            <p:ph type="body" idx="1"/>
          </p:nvPr>
        </p:nvSpPr>
        <p:spPr>
          <a:xfrm>
            <a:off x="838200" y="20667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Проаналізовано наявні аналоги і розглянути їхні переваги та недоліки;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Спроектовано систему;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Розроблено та протестовано систему.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Таким чином всі поставлені задачі були виконані та мета роботи досягнута.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5"/>
          <p:cNvSpPr/>
          <p:nvPr/>
        </p:nvSpPr>
        <p:spPr>
          <a:xfrm>
            <a:off x="11163300" y="211041"/>
            <a:ext cx="628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</Words>
  <Application>Microsoft Office PowerPoint</Application>
  <PresentationFormat>Широкоэкранный</PresentationFormat>
  <Paragraphs>80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Times New Roman</vt:lpstr>
      <vt:lpstr>Arial</vt:lpstr>
      <vt:lpstr>Calibri</vt:lpstr>
      <vt:lpstr>Roboto</vt:lpstr>
      <vt:lpstr>Geometric</vt:lpstr>
      <vt:lpstr>Презентация PowerPoint</vt:lpstr>
      <vt:lpstr>Мета та задачі кваліфікаційної роботи</vt:lpstr>
      <vt:lpstr>Предмет та об’єкт кваліфікаційної роботи</vt:lpstr>
      <vt:lpstr>Аналоги системи</vt:lpstr>
      <vt:lpstr>Діаграма варіанту використання</vt:lpstr>
      <vt:lpstr>Діаграма послідовності варіанта використання </vt:lpstr>
      <vt:lpstr>Схема бази даних </vt:lpstr>
      <vt:lpstr>Використаний стек технологій</vt:lpstr>
      <vt:lpstr>Контрольний приклад</vt:lpstr>
      <vt:lpstr>Контрольний приклад</vt:lpstr>
      <vt:lpstr>Контрольний приклад</vt:lpstr>
      <vt:lpstr> Загальні висновки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comp1</dc:creator>
  <cp:lastModifiedBy>comp1</cp:lastModifiedBy>
  <cp:revision>1</cp:revision>
  <dcterms:modified xsi:type="dcterms:W3CDTF">2026-05-19T16:35:02Z</dcterms:modified>
</cp:coreProperties>
</file>